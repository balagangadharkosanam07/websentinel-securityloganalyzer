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1518757-0730-4FA0-878E-9BEDB196A848}" v="5" dt="2026-10-10T05:18:40.80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58" d="100"/>
          <a:sy n="58" d="100"/>
        </p:scale>
        <p:origin x="896"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nthosh Dupam" userId="77bdeaeaf48f36be" providerId="LiveId" clId="{50694AC7-54CC-4A11-981F-2B310125C7E5}"/>
    <pc:docChg chg="undo custSel modSld">
      <pc:chgData name="Santhosh Dupam" userId="77bdeaeaf48f36be" providerId="LiveId" clId="{50694AC7-54CC-4A11-981F-2B310125C7E5}" dt="2026-10-10T05:21:03.380" v="84" actId="947"/>
      <pc:docMkLst>
        <pc:docMk/>
      </pc:docMkLst>
      <pc:sldChg chg="addSp delSp modSp mod">
        <pc:chgData name="Santhosh Dupam" userId="77bdeaeaf48f36be" providerId="LiveId" clId="{50694AC7-54CC-4A11-981F-2B310125C7E5}" dt="2026-10-10T05:12:55.026" v="7" actId="478"/>
        <pc:sldMkLst>
          <pc:docMk/>
          <pc:sldMk cId="0" sldId="256"/>
        </pc:sldMkLst>
        <pc:spChg chg="add del">
          <ac:chgData name="Santhosh Dupam" userId="77bdeaeaf48f36be" providerId="LiveId" clId="{50694AC7-54CC-4A11-981F-2B310125C7E5}" dt="2026-10-10T05:12:54.112" v="5" actId="478"/>
          <ac:spMkLst>
            <pc:docMk/>
            <pc:sldMk cId="0" sldId="256"/>
            <ac:spMk id="10" creationId="{00000000-0000-0000-0000-000000000000}"/>
          </ac:spMkLst>
        </pc:spChg>
        <pc:spChg chg="add del">
          <ac:chgData name="Santhosh Dupam" userId="77bdeaeaf48f36be" providerId="LiveId" clId="{50694AC7-54CC-4A11-981F-2B310125C7E5}" dt="2026-10-10T05:12:54.665" v="6" actId="478"/>
          <ac:spMkLst>
            <pc:docMk/>
            <pc:sldMk cId="0" sldId="256"/>
            <ac:spMk id="11" creationId="{00000000-0000-0000-0000-000000000000}"/>
          </ac:spMkLst>
        </pc:spChg>
        <pc:spChg chg="add del mod">
          <ac:chgData name="Santhosh Dupam" userId="77bdeaeaf48f36be" providerId="LiveId" clId="{50694AC7-54CC-4A11-981F-2B310125C7E5}" dt="2026-10-10T05:12:55.026" v="7" actId="478"/>
          <ac:spMkLst>
            <pc:docMk/>
            <pc:sldMk cId="0" sldId="256"/>
            <ac:spMk id="12" creationId="{00000000-0000-0000-0000-000000000000}"/>
          </ac:spMkLst>
        </pc:spChg>
      </pc:sldChg>
      <pc:sldChg chg="addSp modSp mod">
        <pc:chgData name="Santhosh Dupam" userId="77bdeaeaf48f36be" providerId="LiveId" clId="{50694AC7-54CC-4A11-981F-2B310125C7E5}" dt="2026-10-10T05:17:41.309" v="46" actId="1076"/>
        <pc:sldMkLst>
          <pc:docMk/>
          <pc:sldMk cId="0" sldId="259"/>
        </pc:sldMkLst>
        <pc:spChg chg="mod">
          <ac:chgData name="Santhosh Dupam" userId="77bdeaeaf48f36be" providerId="LiveId" clId="{50694AC7-54CC-4A11-981F-2B310125C7E5}" dt="2026-10-10T05:17:41.309" v="46" actId="1076"/>
          <ac:spMkLst>
            <pc:docMk/>
            <pc:sldMk cId="0" sldId="259"/>
            <ac:spMk id="11" creationId="{00000000-0000-0000-0000-000000000000}"/>
          </ac:spMkLst>
        </pc:spChg>
        <pc:spChg chg="mod">
          <ac:chgData name="Santhosh Dupam" userId="77bdeaeaf48f36be" providerId="LiveId" clId="{50694AC7-54CC-4A11-981F-2B310125C7E5}" dt="2026-10-10T05:17:05.703" v="40" actId="164"/>
          <ac:spMkLst>
            <pc:docMk/>
            <pc:sldMk cId="0" sldId="259"/>
            <ac:spMk id="12" creationId="{00000000-0000-0000-0000-000000000000}"/>
          </ac:spMkLst>
        </pc:spChg>
        <pc:spChg chg="mod">
          <ac:chgData name="Santhosh Dupam" userId="77bdeaeaf48f36be" providerId="LiveId" clId="{50694AC7-54CC-4A11-981F-2B310125C7E5}" dt="2026-10-10T05:17:05.703" v="40" actId="164"/>
          <ac:spMkLst>
            <pc:docMk/>
            <pc:sldMk cId="0" sldId="259"/>
            <ac:spMk id="13" creationId="{00000000-0000-0000-0000-000000000000}"/>
          </ac:spMkLst>
        </pc:spChg>
        <pc:spChg chg="mod">
          <ac:chgData name="Santhosh Dupam" userId="77bdeaeaf48f36be" providerId="LiveId" clId="{50694AC7-54CC-4A11-981F-2B310125C7E5}" dt="2026-10-10T05:17:05.703" v="40" actId="164"/>
          <ac:spMkLst>
            <pc:docMk/>
            <pc:sldMk cId="0" sldId="259"/>
            <ac:spMk id="14" creationId="{00000000-0000-0000-0000-000000000000}"/>
          </ac:spMkLst>
        </pc:spChg>
        <pc:spChg chg="mod">
          <ac:chgData name="Santhosh Dupam" userId="77bdeaeaf48f36be" providerId="LiveId" clId="{50694AC7-54CC-4A11-981F-2B310125C7E5}" dt="2026-10-10T05:17:04.604" v="37" actId="1076"/>
          <ac:spMkLst>
            <pc:docMk/>
            <pc:sldMk cId="0" sldId="259"/>
            <ac:spMk id="15" creationId="{00000000-0000-0000-0000-000000000000}"/>
          </ac:spMkLst>
        </pc:spChg>
        <pc:spChg chg="mod">
          <ac:chgData name="Santhosh Dupam" userId="77bdeaeaf48f36be" providerId="LiveId" clId="{50694AC7-54CC-4A11-981F-2B310125C7E5}" dt="2026-10-10T05:17:05.703" v="40" actId="164"/>
          <ac:spMkLst>
            <pc:docMk/>
            <pc:sldMk cId="0" sldId="259"/>
            <ac:spMk id="16" creationId="{00000000-0000-0000-0000-000000000000}"/>
          </ac:spMkLst>
        </pc:spChg>
        <pc:spChg chg="mod">
          <ac:chgData name="Santhosh Dupam" userId="77bdeaeaf48f36be" providerId="LiveId" clId="{50694AC7-54CC-4A11-981F-2B310125C7E5}" dt="2026-10-10T05:17:05.703" v="40" actId="164"/>
          <ac:spMkLst>
            <pc:docMk/>
            <pc:sldMk cId="0" sldId="259"/>
            <ac:spMk id="17" creationId="{00000000-0000-0000-0000-000000000000}"/>
          </ac:spMkLst>
        </pc:spChg>
        <pc:spChg chg="mod">
          <ac:chgData name="Santhosh Dupam" userId="77bdeaeaf48f36be" providerId="LiveId" clId="{50694AC7-54CC-4A11-981F-2B310125C7E5}" dt="2026-10-10T05:17:04.025" v="34" actId="1076"/>
          <ac:spMkLst>
            <pc:docMk/>
            <pc:sldMk cId="0" sldId="259"/>
            <ac:spMk id="18" creationId="{00000000-0000-0000-0000-000000000000}"/>
          </ac:spMkLst>
        </pc:spChg>
        <pc:spChg chg="mod">
          <ac:chgData name="Santhosh Dupam" userId="77bdeaeaf48f36be" providerId="LiveId" clId="{50694AC7-54CC-4A11-981F-2B310125C7E5}" dt="2026-10-10T05:17:05.703" v="40" actId="164"/>
          <ac:spMkLst>
            <pc:docMk/>
            <pc:sldMk cId="0" sldId="259"/>
            <ac:spMk id="19" creationId="{00000000-0000-0000-0000-000000000000}"/>
          </ac:spMkLst>
        </pc:spChg>
        <pc:grpChg chg="add mod">
          <ac:chgData name="Santhosh Dupam" userId="77bdeaeaf48f36be" providerId="LiveId" clId="{50694AC7-54CC-4A11-981F-2B310125C7E5}" dt="2026-10-10T05:17:05.703" v="40" actId="164"/>
          <ac:grpSpMkLst>
            <pc:docMk/>
            <pc:sldMk cId="0" sldId="259"/>
            <ac:grpSpMk id="10" creationId="{8FBB2DB7-FF91-BD22-E336-F384B744B3AC}"/>
          </ac:grpSpMkLst>
        </pc:grpChg>
        <pc:grpChg chg="add mod">
          <ac:chgData name="Santhosh Dupam" userId="77bdeaeaf48f36be" providerId="LiveId" clId="{50694AC7-54CC-4A11-981F-2B310125C7E5}" dt="2026-10-10T05:17:05.703" v="40" actId="164"/>
          <ac:grpSpMkLst>
            <pc:docMk/>
            <pc:sldMk cId="0" sldId="259"/>
            <ac:grpSpMk id="20" creationId="{601B3386-40F4-1061-510F-09AC039FEEBB}"/>
          </ac:grpSpMkLst>
        </pc:grpChg>
        <pc:grpChg chg="add mod">
          <ac:chgData name="Santhosh Dupam" userId="77bdeaeaf48f36be" providerId="LiveId" clId="{50694AC7-54CC-4A11-981F-2B310125C7E5}" dt="2026-10-10T05:17:05.703" v="40" actId="164"/>
          <ac:grpSpMkLst>
            <pc:docMk/>
            <pc:sldMk cId="0" sldId="259"/>
            <ac:grpSpMk id="21" creationId="{E997E9AA-407C-6894-A8C9-9AE911938610}"/>
          </ac:grpSpMkLst>
        </pc:grpChg>
      </pc:sldChg>
      <pc:sldChg chg="addSp delSp modSp mod">
        <pc:chgData name="Santhosh Dupam" userId="77bdeaeaf48f36be" providerId="LiveId" clId="{50694AC7-54CC-4A11-981F-2B310125C7E5}" dt="2026-10-10T05:20:23.517" v="71" actId="947"/>
        <pc:sldMkLst>
          <pc:docMk/>
          <pc:sldMk cId="0" sldId="260"/>
        </pc:sldMkLst>
        <pc:spChg chg="add del mod">
          <ac:chgData name="Santhosh Dupam" userId="77bdeaeaf48f36be" providerId="LiveId" clId="{50694AC7-54CC-4A11-981F-2B310125C7E5}" dt="2026-10-10T05:18:42.536" v="53"/>
          <ac:spMkLst>
            <pc:docMk/>
            <pc:sldMk cId="0" sldId="260"/>
            <ac:spMk id="10" creationId="{00510931-226E-D6E5-99D8-87F5B0BE061C}"/>
          </ac:spMkLst>
        </pc:spChg>
        <pc:spChg chg="mod">
          <ac:chgData name="Santhosh Dupam" userId="77bdeaeaf48f36be" providerId="LiveId" clId="{50694AC7-54CC-4A11-981F-2B310125C7E5}" dt="2026-10-10T05:18:59.503" v="67" actId="1076"/>
          <ac:spMkLst>
            <pc:docMk/>
            <pc:sldMk cId="0" sldId="260"/>
            <ac:spMk id="11" creationId="{00000000-0000-0000-0000-000000000000}"/>
          </ac:spMkLst>
        </pc:spChg>
        <pc:spChg chg="mod">
          <ac:chgData name="Santhosh Dupam" userId="77bdeaeaf48f36be" providerId="LiveId" clId="{50694AC7-54CC-4A11-981F-2B310125C7E5}" dt="2026-10-10T05:18:59.503" v="67" actId="1076"/>
          <ac:spMkLst>
            <pc:docMk/>
            <pc:sldMk cId="0" sldId="260"/>
            <ac:spMk id="12" creationId="{00000000-0000-0000-0000-000000000000}"/>
          </ac:spMkLst>
        </pc:spChg>
        <pc:spChg chg="mod">
          <ac:chgData name="Santhosh Dupam" userId="77bdeaeaf48f36be" providerId="LiveId" clId="{50694AC7-54CC-4A11-981F-2B310125C7E5}" dt="2026-10-10T05:19:08.634" v="68" actId="1076"/>
          <ac:spMkLst>
            <pc:docMk/>
            <pc:sldMk cId="0" sldId="260"/>
            <ac:spMk id="13" creationId="{00000000-0000-0000-0000-000000000000}"/>
          </ac:spMkLst>
        </pc:spChg>
        <pc:spChg chg="mod">
          <ac:chgData name="Santhosh Dupam" userId="77bdeaeaf48f36be" providerId="LiveId" clId="{50694AC7-54CC-4A11-981F-2B310125C7E5}" dt="2026-10-10T05:19:44.955" v="70" actId="947"/>
          <ac:spMkLst>
            <pc:docMk/>
            <pc:sldMk cId="0" sldId="260"/>
            <ac:spMk id="14" creationId="{00000000-0000-0000-0000-000000000000}"/>
          </ac:spMkLst>
        </pc:spChg>
        <pc:spChg chg="mod">
          <ac:chgData name="Santhosh Dupam" userId="77bdeaeaf48f36be" providerId="LiveId" clId="{50694AC7-54CC-4A11-981F-2B310125C7E5}" dt="2026-10-10T05:18:59.503" v="67" actId="1076"/>
          <ac:spMkLst>
            <pc:docMk/>
            <pc:sldMk cId="0" sldId="260"/>
            <ac:spMk id="15" creationId="{00000000-0000-0000-0000-000000000000}"/>
          </ac:spMkLst>
        </pc:spChg>
        <pc:spChg chg="mod">
          <ac:chgData name="Santhosh Dupam" userId="77bdeaeaf48f36be" providerId="LiveId" clId="{50694AC7-54CC-4A11-981F-2B310125C7E5}" dt="2026-10-10T05:19:18.395" v="69" actId="947"/>
          <ac:spMkLst>
            <pc:docMk/>
            <pc:sldMk cId="0" sldId="260"/>
            <ac:spMk id="16" creationId="{00000000-0000-0000-0000-000000000000}"/>
          </ac:spMkLst>
        </pc:spChg>
        <pc:spChg chg="mod">
          <ac:chgData name="Santhosh Dupam" userId="77bdeaeaf48f36be" providerId="LiveId" clId="{50694AC7-54CC-4A11-981F-2B310125C7E5}" dt="2026-10-10T05:19:08.634" v="68" actId="1076"/>
          <ac:spMkLst>
            <pc:docMk/>
            <pc:sldMk cId="0" sldId="260"/>
            <ac:spMk id="17" creationId="{00000000-0000-0000-0000-000000000000}"/>
          </ac:spMkLst>
        </pc:spChg>
        <pc:spChg chg="mod">
          <ac:chgData name="Santhosh Dupam" userId="77bdeaeaf48f36be" providerId="LiveId" clId="{50694AC7-54CC-4A11-981F-2B310125C7E5}" dt="2026-10-10T05:20:23.517" v="71" actId="947"/>
          <ac:spMkLst>
            <pc:docMk/>
            <pc:sldMk cId="0" sldId="260"/>
            <ac:spMk id="18" creationId="{00000000-0000-0000-0000-000000000000}"/>
          </ac:spMkLst>
        </pc:spChg>
        <pc:spChg chg="del">
          <ac:chgData name="Santhosh Dupam" userId="77bdeaeaf48f36be" providerId="LiveId" clId="{50694AC7-54CC-4A11-981F-2B310125C7E5}" dt="2026-10-10T05:13:08.918" v="8" actId="478"/>
          <ac:spMkLst>
            <pc:docMk/>
            <pc:sldMk cId="0" sldId="260"/>
            <ac:spMk id="19" creationId="{00000000-0000-0000-0000-000000000000}"/>
          </ac:spMkLst>
        </pc:spChg>
        <pc:spChg chg="del">
          <ac:chgData name="Santhosh Dupam" userId="77bdeaeaf48f36be" providerId="LiveId" clId="{50694AC7-54CC-4A11-981F-2B310125C7E5}" dt="2026-10-10T05:13:15.936" v="12" actId="478"/>
          <ac:spMkLst>
            <pc:docMk/>
            <pc:sldMk cId="0" sldId="260"/>
            <ac:spMk id="20" creationId="{00000000-0000-0000-0000-000000000000}"/>
          </ac:spMkLst>
        </pc:spChg>
        <pc:spChg chg="del">
          <ac:chgData name="Santhosh Dupam" userId="77bdeaeaf48f36be" providerId="LiveId" clId="{50694AC7-54CC-4A11-981F-2B310125C7E5}" dt="2026-10-10T05:13:14.564" v="11" actId="478"/>
          <ac:spMkLst>
            <pc:docMk/>
            <pc:sldMk cId="0" sldId="260"/>
            <ac:spMk id="21" creationId="{00000000-0000-0000-0000-000000000000}"/>
          </ac:spMkLst>
        </pc:spChg>
        <pc:spChg chg="del">
          <ac:chgData name="Santhosh Dupam" userId="77bdeaeaf48f36be" providerId="LiveId" clId="{50694AC7-54CC-4A11-981F-2B310125C7E5}" dt="2026-10-10T05:13:13.068" v="10" actId="478"/>
          <ac:spMkLst>
            <pc:docMk/>
            <pc:sldMk cId="0" sldId="260"/>
            <ac:spMk id="22" creationId="{00000000-0000-0000-0000-000000000000}"/>
          </ac:spMkLst>
        </pc:spChg>
        <pc:spChg chg="del mod">
          <ac:chgData name="Santhosh Dupam" userId="77bdeaeaf48f36be" providerId="LiveId" clId="{50694AC7-54CC-4A11-981F-2B310125C7E5}" dt="2026-10-10T05:13:20.273" v="14" actId="478"/>
          <ac:spMkLst>
            <pc:docMk/>
            <pc:sldMk cId="0" sldId="260"/>
            <ac:spMk id="23" creationId="{00000000-0000-0000-0000-000000000000}"/>
          </ac:spMkLst>
        </pc:spChg>
        <pc:spChg chg="del">
          <ac:chgData name="Santhosh Dupam" userId="77bdeaeaf48f36be" providerId="LiveId" clId="{50694AC7-54CC-4A11-981F-2B310125C7E5}" dt="2026-10-10T05:13:11.403" v="9" actId="478"/>
          <ac:spMkLst>
            <pc:docMk/>
            <pc:sldMk cId="0" sldId="260"/>
            <ac:spMk id="24" creationId="{00000000-0000-0000-0000-000000000000}"/>
          </ac:spMkLst>
        </pc:spChg>
      </pc:sldChg>
      <pc:sldChg chg="modSp mod">
        <pc:chgData name="Santhosh Dupam" userId="77bdeaeaf48f36be" providerId="LiveId" clId="{50694AC7-54CC-4A11-981F-2B310125C7E5}" dt="2026-10-10T05:21:03.380" v="84" actId="947"/>
        <pc:sldMkLst>
          <pc:docMk/>
          <pc:sldMk cId="0" sldId="261"/>
        </pc:sldMkLst>
        <pc:spChg chg="mod">
          <ac:chgData name="Santhosh Dupam" userId="77bdeaeaf48f36be" providerId="LiveId" clId="{50694AC7-54CC-4A11-981F-2B310125C7E5}" dt="2026-10-10T05:21:03.380" v="84" actId="947"/>
          <ac:spMkLst>
            <pc:docMk/>
            <pc:sldMk cId="0" sldId="261"/>
            <ac:spMk id="8" creationId="{00000000-0000-0000-0000-000000000000}"/>
          </ac:spMkLst>
        </pc:spChg>
        <pc:spChg chg="mod">
          <ac:chgData name="Santhosh Dupam" userId="77bdeaeaf48f36be" providerId="LiveId" clId="{50694AC7-54CC-4A11-981F-2B310125C7E5}" dt="2026-10-10T05:20:36.027" v="81" actId="20577"/>
          <ac:spMkLst>
            <pc:docMk/>
            <pc:sldMk cId="0" sldId="261"/>
            <ac:spMk id="1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943491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for Kriyova Hackathon 2026. Team CONSENSUS, ID KH001, theme Cyber Security. WebSentinel is a defensive log analysis and risk assessment platform.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manual review of large web logs makes repeated suspicious patterns hard to find and prioritize. Solution: WebSentinel ingests structured JSON logs, applies configurable rules, produces evidence-backed alerts, correlates alerts into incidents and calculates explainable risk scores. It analyzes available logs only; it does not scan arbitrary websites, and suspicious activity is not proof of a successful attack. The diagram is conceptual.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Stack: React, Vite, Tailwind CSS and JavaScript on the frontend; Node.js, Express and Zod on the backend; PostgreSQL with Drizzle ORM and Drizzle Kit for schema and migrations; Recharts for selected charts. The project uses JavaScript, not TypeScript. Drizzle queries are parameterized, but ORM use alone does not prevent SQL injection. The prototype processes synthetic JSON logs; authenticated ingestion from the Student Attendance Portal is future integration. Detection thresholds are configurable and must be tested; false positives are possible.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Feasibility rests on established web technologies. Main challenges: detection quality depends on log completeness and correctness; legitimate unusual activity can cause false positives; the analyzer itself handles security-related records and must be secured. Mitigation: labeled synthetic test datasets, configurable and tested thresholds, authenticated ingestion, validation, and least-privilege access. Planned evaluation metrics: detection precision, recall, false-positive rate, processing time, ingestion success, API response time. No results are claimed yet.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Benefits are intended outcomes, phrased as aims: the platform is designed to support analysts and application teams. They depend on reliable logs, carefully tested rules, secure ingestion and transparent handling of false positives. No performance figures are claimed.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presentation, thank the judges and invite questions.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3" name="Text 0"/>
          <p:cNvSpPr txBox="1"/>
          <p:nvPr/>
        </p:nvSpPr>
        <p:spPr>
          <a:xfrm>
            <a:off x="502920" y="548640"/>
            <a:ext cx="11183112" cy="731520"/>
          </a:xfrm>
          <a:prstGeom prst="rect">
            <a:avLst/>
          </a:prstGeom>
          <a:noFill/>
          <a:ln/>
        </p:spPr>
        <p:txBody>
          <a:bodyPr wrap="square" lIns="0" tIns="0" rIns="0" bIns="0" rtlCol="0" anchor="ctr"/>
          <a:lstStyle/>
          <a:p>
            <a:pPr marL="0" indent="0" algn="ctr">
              <a:buNone/>
            </a:pPr>
            <a:r>
              <a:rPr lang="en-US" sz="3600" b="1" kern="0" spc="200" dirty="0">
                <a:solidFill>
                  <a:srgbClr val="1F4E79"/>
                </a:solidFill>
                <a:latin typeface="Times New Roman" pitchFamily="34" charset="0"/>
                <a:ea typeface="Times New Roman" pitchFamily="34" charset="-122"/>
                <a:cs typeface="Times New Roman" pitchFamily="34" charset="-120"/>
              </a:rPr>
              <a:t>KRIYOVA HACKATHON 2026</a:t>
            </a:r>
            <a:endParaRPr lang="en-US" sz="3600" dirty="0"/>
          </a:p>
        </p:txBody>
      </p:sp>
      <p:sp>
        <p:nvSpPr>
          <p:cNvPr id="4" name="Shape 1"/>
          <p:cNvSpPr/>
          <p:nvPr/>
        </p:nvSpPr>
        <p:spPr>
          <a:xfrm>
            <a:off x="5184648" y="1325880"/>
            <a:ext cx="1828800" cy="45720"/>
          </a:xfrm>
          <a:prstGeom prst="rect">
            <a:avLst/>
          </a:prstGeom>
          <a:solidFill>
            <a:srgbClr val="1F4E79"/>
          </a:solidFill>
          <a:ln w="12700">
            <a:solidFill>
              <a:srgbClr val="1F4E79"/>
            </a:solidFill>
            <a:prstDash val="solid"/>
          </a:ln>
        </p:spPr>
      </p:sp>
      <p:sp>
        <p:nvSpPr>
          <p:cNvPr id="5" name="Text 2"/>
          <p:cNvSpPr txBox="1"/>
          <p:nvPr/>
        </p:nvSpPr>
        <p:spPr>
          <a:xfrm>
            <a:off x="822960" y="2011680"/>
            <a:ext cx="5760720" cy="777240"/>
          </a:xfrm>
          <a:prstGeom prst="rect">
            <a:avLst/>
          </a:prstGeom>
          <a:noFill/>
          <a:ln/>
        </p:spPr>
        <p:txBody>
          <a:bodyPr wrap="square" lIns="0" tIns="0" rIns="0" bIns="0" rtlCol="0" anchor="t"/>
          <a:lstStyle/>
          <a:p>
            <a:pPr marL="0" indent="0">
              <a:buNone/>
            </a:pPr>
            <a:r>
              <a:rPr lang="en-US" sz="2200" b="1" dirty="0">
                <a:solidFill>
                  <a:srgbClr val="1F4E79"/>
                </a:solidFill>
                <a:latin typeface="Times New Roman" pitchFamily="34" charset="0"/>
                <a:ea typeface="Times New Roman" pitchFamily="34" charset="-122"/>
                <a:cs typeface="Times New Roman" pitchFamily="34" charset="-120"/>
              </a:rPr>
              <a:t>Title: </a:t>
            </a:r>
            <a:r>
              <a:rPr lang="en-US" sz="2200" dirty="0">
                <a:solidFill>
                  <a:srgbClr val="1A1A1A"/>
                </a:solidFill>
                <a:latin typeface="Times New Roman" pitchFamily="34" charset="0"/>
                <a:ea typeface="Times New Roman" pitchFamily="34" charset="-122"/>
                <a:cs typeface="Times New Roman" pitchFamily="34" charset="-120"/>
              </a:rPr>
              <a:t>WebSentinel – Web-Based Security Log Analyzer and Risk Assessment Platform</a:t>
            </a:r>
            <a:endParaRPr lang="en-US" sz="2200" dirty="0"/>
          </a:p>
        </p:txBody>
      </p:sp>
      <p:sp>
        <p:nvSpPr>
          <p:cNvPr id="6" name="Text 3"/>
          <p:cNvSpPr txBox="1"/>
          <p:nvPr/>
        </p:nvSpPr>
        <p:spPr>
          <a:xfrm>
            <a:off x="822960" y="2880360"/>
            <a:ext cx="5760720" cy="777240"/>
          </a:xfrm>
          <a:prstGeom prst="rect">
            <a:avLst/>
          </a:prstGeom>
          <a:noFill/>
          <a:ln/>
        </p:spPr>
        <p:txBody>
          <a:bodyPr wrap="square" lIns="0" tIns="0" rIns="0" bIns="0" rtlCol="0" anchor="t"/>
          <a:lstStyle/>
          <a:p>
            <a:pPr marL="0" indent="0">
              <a:buNone/>
            </a:pPr>
            <a:r>
              <a:rPr lang="en-US" sz="2200" b="1" dirty="0">
                <a:solidFill>
                  <a:srgbClr val="1F4E79"/>
                </a:solidFill>
                <a:latin typeface="Times New Roman" pitchFamily="34" charset="0"/>
                <a:ea typeface="Times New Roman" pitchFamily="34" charset="-122"/>
                <a:cs typeface="Times New Roman" pitchFamily="34" charset="-120"/>
              </a:rPr>
              <a:t>Theme: </a:t>
            </a:r>
            <a:r>
              <a:rPr lang="en-US" sz="2200" dirty="0">
                <a:solidFill>
                  <a:srgbClr val="1A1A1A"/>
                </a:solidFill>
                <a:latin typeface="Times New Roman" pitchFamily="34" charset="0"/>
                <a:ea typeface="Times New Roman" pitchFamily="34" charset="-122"/>
                <a:cs typeface="Times New Roman" pitchFamily="34" charset="-120"/>
              </a:rPr>
              <a:t>Cyber Security</a:t>
            </a:r>
            <a:endParaRPr lang="en-US" sz="2200" dirty="0"/>
          </a:p>
        </p:txBody>
      </p:sp>
      <p:sp>
        <p:nvSpPr>
          <p:cNvPr id="7" name="Text 4"/>
          <p:cNvSpPr txBox="1"/>
          <p:nvPr/>
        </p:nvSpPr>
        <p:spPr>
          <a:xfrm>
            <a:off x="822960" y="3749040"/>
            <a:ext cx="5760720" cy="777240"/>
          </a:xfrm>
          <a:prstGeom prst="rect">
            <a:avLst/>
          </a:prstGeom>
          <a:noFill/>
          <a:ln/>
        </p:spPr>
        <p:txBody>
          <a:bodyPr wrap="square" lIns="0" tIns="0" rIns="0" bIns="0" rtlCol="0" anchor="t"/>
          <a:lstStyle/>
          <a:p>
            <a:pPr marL="0" indent="0">
              <a:buNone/>
            </a:pPr>
            <a:r>
              <a:rPr lang="en-US" sz="2200" b="1" dirty="0">
                <a:solidFill>
                  <a:srgbClr val="1F4E79"/>
                </a:solidFill>
                <a:latin typeface="Times New Roman" pitchFamily="34" charset="0"/>
                <a:ea typeface="Times New Roman" pitchFamily="34" charset="-122"/>
                <a:cs typeface="Times New Roman" pitchFamily="34" charset="-120"/>
              </a:rPr>
              <a:t>Team ID: </a:t>
            </a:r>
            <a:r>
              <a:rPr lang="en-US" sz="2200" dirty="0">
                <a:solidFill>
                  <a:srgbClr val="1A1A1A"/>
                </a:solidFill>
                <a:latin typeface="Times New Roman" pitchFamily="34" charset="0"/>
                <a:ea typeface="Times New Roman" pitchFamily="34" charset="-122"/>
                <a:cs typeface="Times New Roman" pitchFamily="34" charset="-120"/>
              </a:rPr>
              <a:t>KH001</a:t>
            </a:r>
            <a:endParaRPr lang="en-US" sz="2200" dirty="0"/>
          </a:p>
        </p:txBody>
      </p:sp>
      <p:sp>
        <p:nvSpPr>
          <p:cNvPr id="8" name="Text 5"/>
          <p:cNvSpPr txBox="1"/>
          <p:nvPr/>
        </p:nvSpPr>
        <p:spPr>
          <a:xfrm>
            <a:off x="822960" y="4617720"/>
            <a:ext cx="5760720" cy="777240"/>
          </a:xfrm>
          <a:prstGeom prst="rect">
            <a:avLst/>
          </a:prstGeom>
          <a:noFill/>
          <a:ln/>
        </p:spPr>
        <p:txBody>
          <a:bodyPr wrap="square" lIns="0" tIns="0" rIns="0" bIns="0" rtlCol="0" anchor="t"/>
          <a:lstStyle/>
          <a:p>
            <a:pPr marL="0" indent="0">
              <a:buNone/>
            </a:pPr>
            <a:r>
              <a:rPr lang="en-US" sz="2200" b="1" dirty="0">
                <a:solidFill>
                  <a:srgbClr val="1F4E79"/>
                </a:solidFill>
                <a:latin typeface="Times New Roman" pitchFamily="34" charset="0"/>
                <a:ea typeface="Times New Roman" pitchFamily="34" charset="-122"/>
                <a:cs typeface="Times New Roman" pitchFamily="34" charset="-120"/>
              </a:rPr>
              <a:t>Team Name: </a:t>
            </a:r>
            <a:r>
              <a:rPr lang="en-US" sz="2200" dirty="0">
                <a:solidFill>
                  <a:srgbClr val="1A1A1A"/>
                </a:solidFill>
                <a:latin typeface="Times New Roman" pitchFamily="34" charset="0"/>
                <a:ea typeface="Times New Roman" pitchFamily="34" charset="-122"/>
                <a:cs typeface="Times New Roman" pitchFamily="34" charset="-120"/>
              </a:rPr>
              <a:t>CONSENSUS</a:t>
            </a:r>
            <a:endParaRPr lang="en-US" sz="2200" dirty="0"/>
          </a:p>
        </p:txBody>
      </p:sp>
      <p:sp>
        <p:nvSpPr>
          <p:cNvPr id="9" name="Shape 6"/>
          <p:cNvSpPr/>
          <p:nvPr/>
        </p:nvSpPr>
        <p:spPr>
          <a:xfrm>
            <a:off x="7132320" y="1828800"/>
            <a:ext cx="4297680" cy="3017520"/>
          </a:xfrm>
          <a:prstGeom prst="roundRect">
            <a:avLst>
              <a:gd name="adj" fmla="val 3030"/>
            </a:avLst>
          </a:prstGeom>
          <a:solidFill>
            <a:srgbClr val="FFFFFF"/>
          </a:solidFill>
          <a:ln w="15875">
            <a:solidFill>
              <a:srgbClr val="9DB7D1"/>
            </a:solidFill>
            <a:prstDash val="solid"/>
          </a:ln>
        </p:spPr>
      </p:sp>
      <p:sp>
        <p:nvSpPr>
          <p:cNvPr id="10" name="Shape 7"/>
          <p:cNvSpPr/>
          <p:nvPr/>
        </p:nvSpPr>
        <p:spPr>
          <a:xfrm>
            <a:off x="7452360" y="2895600"/>
            <a:ext cx="792480" cy="792480"/>
          </a:xfrm>
          <a:prstGeom prst="ellipse">
            <a:avLst/>
          </a:prstGeom>
          <a:solidFill>
            <a:srgbClr val="1F4E79">
              <a:alpha val="65000"/>
            </a:srgbClr>
          </a:solidFill>
          <a:ln w="12700">
            <a:solidFill>
              <a:srgbClr val="FFFFFF"/>
            </a:solidFill>
            <a:prstDash val="solid"/>
          </a:ln>
        </p:spPr>
      </p:sp>
      <p:sp>
        <p:nvSpPr>
          <p:cNvPr id="11" name="Shape 8"/>
          <p:cNvSpPr/>
          <p:nvPr/>
        </p:nvSpPr>
        <p:spPr>
          <a:xfrm>
            <a:off x="7787640" y="2895600"/>
            <a:ext cx="792480" cy="792480"/>
          </a:xfrm>
          <a:prstGeom prst="ellipse">
            <a:avLst/>
          </a:prstGeom>
          <a:solidFill>
            <a:srgbClr val="0D9488">
              <a:alpha val="65000"/>
            </a:srgbClr>
          </a:solidFill>
          <a:ln w="12700">
            <a:solidFill>
              <a:srgbClr val="FFFFFF"/>
            </a:solidFill>
            <a:prstDash val="solid"/>
          </a:ln>
        </p:spPr>
      </p:sp>
      <p:sp>
        <p:nvSpPr>
          <p:cNvPr id="12" name="Shape 9"/>
          <p:cNvSpPr/>
          <p:nvPr/>
        </p:nvSpPr>
        <p:spPr>
          <a:xfrm>
            <a:off x="8130728" y="2895600"/>
            <a:ext cx="776865" cy="792480"/>
          </a:xfrm>
          <a:prstGeom prst="ellipse">
            <a:avLst/>
          </a:prstGeom>
          <a:solidFill>
            <a:srgbClr val="2563EB">
              <a:alpha val="65000"/>
            </a:srgbClr>
          </a:solidFill>
          <a:ln w="12700">
            <a:solidFill>
              <a:srgbClr val="FFFFFF"/>
            </a:solidFill>
            <a:prstDash val="solid"/>
          </a:ln>
        </p:spPr>
      </p:sp>
      <p:sp>
        <p:nvSpPr>
          <p:cNvPr id="13" name="Text 10"/>
          <p:cNvSpPr txBox="1"/>
          <p:nvPr/>
        </p:nvSpPr>
        <p:spPr>
          <a:xfrm>
            <a:off x="9098280" y="2834640"/>
            <a:ext cx="2438400" cy="685800"/>
          </a:xfrm>
          <a:prstGeom prst="rect">
            <a:avLst/>
          </a:prstGeom>
          <a:noFill/>
          <a:ln/>
        </p:spPr>
        <p:txBody>
          <a:bodyPr wrap="none" lIns="0" tIns="0" rIns="0" bIns="0" rtlCol="0" anchor="ctr"/>
          <a:lstStyle/>
          <a:p>
            <a:pPr marL="0" indent="0">
              <a:buNone/>
            </a:pPr>
            <a:r>
              <a:rPr lang="en-US" sz="2300" b="1" dirty="0">
                <a:solidFill>
                  <a:srgbClr val="1F4E79"/>
                </a:solidFill>
                <a:latin typeface="Arial" pitchFamily="34" charset="0"/>
                <a:ea typeface="Arial" pitchFamily="34" charset="-122"/>
                <a:cs typeface="Arial" pitchFamily="34" charset="-120"/>
              </a:rPr>
              <a:t>CONSENSUS</a:t>
            </a:r>
            <a:endParaRPr lang="en-US" sz="2300" dirty="0"/>
          </a:p>
        </p:txBody>
      </p:sp>
      <p:sp>
        <p:nvSpPr>
          <p:cNvPr id="14" name="Text 11"/>
          <p:cNvSpPr txBox="1"/>
          <p:nvPr/>
        </p:nvSpPr>
        <p:spPr>
          <a:xfrm>
            <a:off x="9098280" y="3505200"/>
            <a:ext cx="2133600" cy="335280"/>
          </a:xfrm>
          <a:prstGeom prst="rect">
            <a:avLst/>
          </a:prstGeom>
          <a:noFill/>
          <a:ln/>
        </p:spPr>
        <p:txBody>
          <a:bodyPr wrap="square" lIns="0" tIns="0" rIns="0" bIns="0" rtlCol="0" anchor="ctr"/>
          <a:lstStyle/>
          <a:p>
            <a:pPr marL="0" indent="0">
              <a:buNone/>
            </a:pPr>
            <a:r>
              <a:rPr lang="en-US" sz="1400" b="1" kern="0" spc="200" dirty="0">
                <a:solidFill>
                  <a:srgbClr val="0D9488"/>
                </a:solidFill>
                <a:latin typeface="Arial" pitchFamily="34" charset="0"/>
                <a:ea typeface="Arial" pitchFamily="34" charset="-122"/>
                <a:cs typeface="Arial" pitchFamily="34" charset="-120"/>
              </a:rPr>
              <a:t>TEAM KH001</a:t>
            </a:r>
            <a:endParaRPr lang="en-US" sz="1400" dirty="0"/>
          </a:p>
        </p:txBody>
      </p:sp>
      <p:sp>
        <p:nvSpPr>
          <p:cNvPr id="15" name="Text 12"/>
          <p:cNvSpPr txBox="1"/>
          <p:nvPr/>
        </p:nvSpPr>
        <p:spPr>
          <a:xfrm>
            <a:off x="7132320" y="4160520"/>
            <a:ext cx="4297680" cy="365760"/>
          </a:xfrm>
          <a:prstGeom prst="rect">
            <a:avLst/>
          </a:prstGeom>
          <a:noFill/>
          <a:ln/>
        </p:spPr>
        <p:txBody>
          <a:bodyPr wrap="square" lIns="0" tIns="0" rIns="0" bIns="0" rtlCol="0" anchor="t"/>
          <a:lstStyle/>
          <a:p>
            <a:pPr marL="0" indent="0" algn="ctr">
              <a:buNone/>
            </a:pPr>
            <a:r>
              <a:rPr lang="en-US" sz="1400" i="1" dirty="0">
                <a:solidFill>
                  <a:srgbClr val="475569"/>
                </a:solidFill>
                <a:latin typeface="Times New Roman" pitchFamily="34" charset="0"/>
                <a:ea typeface="Times New Roman" pitchFamily="34" charset="-122"/>
                <a:cs typeface="Times New Roman" pitchFamily="34" charset="-120"/>
              </a:rPr>
              <a:t>Team CONSENSUS  |  Cyber Security</a:t>
            </a:r>
            <a:endParaRPr lang="en-US" sz="1400" dirty="0"/>
          </a:p>
        </p:txBody>
      </p:sp>
      <p:sp>
        <p:nvSpPr>
          <p:cNvPr id="16" name="Text 13"/>
          <p:cNvSpPr txBox="1"/>
          <p:nvPr/>
        </p:nvSpPr>
        <p:spPr>
          <a:xfrm>
            <a:off x="822960" y="5806440"/>
            <a:ext cx="10515600" cy="365760"/>
          </a:xfrm>
          <a:prstGeom prst="rect">
            <a:avLst/>
          </a:prstGeom>
          <a:noFill/>
          <a:ln/>
        </p:spPr>
        <p:txBody>
          <a:bodyPr wrap="square" lIns="0" tIns="0" rIns="0" bIns="0" rtlCol="0" anchor="t"/>
          <a:lstStyle/>
          <a:p>
            <a:pPr marL="0" indent="0">
              <a:buNone/>
            </a:pPr>
            <a:r>
              <a:rPr lang="en-US" sz="1600" dirty="0">
                <a:solidFill>
                  <a:srgbClr val="475569"/>
                </a:solidFill>
                <a:latin typeface="Times New Roman" pitchFamily="34" charset="0"/>
                <a:ea typeface="Times New Roman" pitchFamily="34" charset="-122"/>
                <a:cs typeface="Times New Roman" pitchFamily="34" charset="-120"/>
              </a:rPr>
              <a:t>Team Members: A.V. Karthikeya, D. Naga Santhosh, K. Balagangadhar</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1480" y="262890"/>
            <a:ext cx="416052" cy="416052"/>
          </a:xfrm>
          <a:prstGeom prst="ellipse">
            <a:avLst/>
          </a:prstGeom>
          <a:solidFill>
            <a:srgbClr val="1F4E79">
              <a:alpha val="65000"/>
            </a:srgbClr>
          </a:solidFill>
          <a:ln w="12700">
            <a:solidFill>
              <a:srgbClr val="FFFFFF"/>
            </a:solidFill>
            <a:prstDash val="solid"/>
          </a:ln>
        </p:spPr>
      </p:sp>
      <p:sp>
        <p:nvSpPr>
          <p:cNvPr id="3" name="Shape 1"/>
          <p:cNvSpPr/>
          <p:nvPr/>
        </p:nvSpPr>
        <p:spPr>
          <a:xfrm>
            <a:off x="587502" y="262890"/>
            <a:ext cx="416052" cy="416052"/>
          </a:xfrm>
          <a:prstGeom prst="ellipse">
            <a:avLst/>
          </a:prstGeom>
          <a:solidFill>
            <a:srgbClr val="0D9488">
              <a:alpha val="65000"/>
            </a:srgbClr>
          </a:solidFill>
          <a:ln w="12700">
            <a:solidFill>
              <a:srgbClr val="FFFFFF"/>
            </a:solidFill>
            <a:prstDash val="solid"/>
          </a:ln>
        </p:spPr>
      </p:sp>
      <p:sp>
        <p:nvSpPr>
          <p:cNvPr id="4" name="Shape 2"/>
          <p:cNvSpPr/>
          <p:nvPr/>
        </p:nvSpPr>
        <p:spPr>
          <a:xfrm>
            <a:off x="763524" y="262890"/>
            <a:ext cx="416052" cy="416052"/>
          </a:xfrm>
          <a:prstGeom prst="ellipse">
            <a:avLst/>
          </a:prstGeom>
          <a:solidFill>
            <a:srgbClr val="2563EB">
              <a:alpha val="65000"/>
            </a:srgbClr>
          </a:solidFill>
          <a:ln w="12700">
            <a:solidFill>
              <a:srgbClr val="FFFFFF"/>
            </a:solidFill>
            <a:prstDash val="solid"/>
          </a:ln>
        </p:spPr>
      </p:sp>
      <p:sp>
        <p:nvSpPr>
          <p:cNvPr id="5" name="Text 3"/>
          <p:cNvSpPr txBox="1"/>
          <p:nvPr/>
        </p:nvSpPr>
        <p:spPr>
          <a:xfrm>
            <a:off x="1275588" y="230886"/>
            <a:ext cx="1280160" cy="360045"/>
          </a:xfrm>
          <a:prstGeom prst="rect">
            <a:avLst/>
          </a:prstGeom>
          <a:noFill/>
          <a:ln/>
        </p:spPr>
        <p:txBody>
          <a:bodyPr wrap="none" lIns="0" tIns="0" rIns="0" bIns="0" rtlCol="0" anchor="ctr"/>
          <a:lstStyle/>
          <a:p>
            <a:pPr marL="0" indent="0">
              <a:buNone/>
            </a:pPr>
            <a:r>
              <a:rPr lang="en-US" sz="1200" b="1" dirty="0">
                <a:solidFill>
                  <a:srgbClr val="1F4E79"/>
                </a:solidFill>
                <a:latin typeface="Arial" pitchFamily="34" charset="0"/>
                <a:ea typeface="Arial" pitchFamily="34" charset="-122"/>
                <a:cs typeface="Arial" pitchFamily="34" charset="-120"/>
              </a:rPr>
              <a:t>CONSENSUS</a:t>
            </a:r>
            <a:endParaRPr lang="en-US" sz="1200" dirty="0"/>
          </a:p>
        </p:txBody>
      </p:sp>
      <p:sp>
        <p:nvSpPr>
          <p:cNvPr id="6" name="Text 4"/>
          <p:cNvSpPr txBox="1"/>
          <p:nvPr/>
        </p:nvSpPr>
        <p:spPr>
          <a:xfrm>
            <a:off x="1275588" y="582930"/>
            <a:ext cx="1120140" cy="176022"/>
          </a:xfrm>
          <a:prstGeom prst="rect">
            <a:avLst/>
          </a:prstGeom>
          <a:noFill/>
          <a:ln/>
        </p:spPr>
        <p:txBody>
          <a:bodyPr wrap="square" lIns="0" tIns="0" rIns="0" bIns="0" rtlCol="0" anchor="ctr"/>
          <a:lstStyle/>
          <a:p>
            <a:pPr marL="0" indent="0">
              <a:buNone/>
            </a:pPr>
            <a:r>
              <a:rPr lang="en-US" sz="700" b="1" kern="0" spc="200" dirty="0">
                <a:solidFill>
                  <a:srgbClr val="0D9488"/>
                </a:solidFill>
                <a:latin typeface="Arial" pitchFamily="34" charset="0"/>
                <a:ea typeface="Arial" pitchFamily="34" charset="-122"/>
                <a:cs typeface="Arial" pitchFamily="34" charset="-120"/>
              </a:rPr>
              <a:t>TEAM KH001</a:t>
            </a:r>
            <a:endParaRPr lang="en-US" sz="700" dirty="0"/>
          </a:p>
        </p:txBody>
      </p:sp>
      <p:sp>
        <p:nvSpPr>
          <p:cNvPr id="7" name="Text 5"/>
          <p:cNvSpPr txBox="1"/>
          <p:nvPr/>
        </p:nvSpPr>
        <p:spPr>
          <a:xfrm>
            <a:off x="2560320" y="274320"/>
            <a:ext cx="7132320" cy="640080"/>
          </a:xfrm>
          <a:prstGeom prst="rect">
            <a:avLst/>
          </a:prstGeom>
          <a:noFill/>
          <a:ln/>
        </p:spPr>
        <p:txBody>
          <a:bodyPr wrap="square" lIns="0" tIns="0" rIns="0" bIns="0" rtlCol="0" anchor="ctr"/>
          <a:lstStyle/>
          <a:p>
            <a:pPr marL="0" indent="0" algn="ctr">
              <a:buNone/>
            </a:pPr>
            <a:r>
              <a:rPr lang="en-US" sz="2800" b="1" dirty="0">
                <a:solidFill>
                  <a:srgbClr val="1F4E79"/>
                </a:solidFill>
                <a:latin typeface="Times New Roman" pitchFamily="34" charset="0"/>
                <a:ea typeface="Times New Roman" pitchFamily="34" charset="-122"/>
                <a:cs typeface="Times New Roman" pitchFamily="34" charset="-120"/>
              </a:rPr>
              <a:t>PROPOSED SOLUTION</a:t>
            </a:r>
            <a:endParaRPr lang="en-US" sz="2800" dirty="0"/>
          </a:p>
        </p:txBody>
      </p:sp>
      <p:sp>
        <p:nvSpPr>
          <p:cNvPr id="8" name="Shape 6"/>
          <p:cNvSpPr/>
          <p:nvPr/>
        </p:nvSpPr>
        <p:spPr>
          <a:xfrm>
            <a:off x="502920" y="1024128"/>
            <a:ext cx="11183112" cy="0"/>
          </a:xfrm>
          <a:prstGeom prst="line">
            <a:avLst/>
          </a:prstGeom>
          <a:noFill/>
          <a:ln w="15875">
            <a:solidFill>
              <a:srgbClr val="1F4E79"/>
            </a:solidFill>
            <a:prstDash val="solid"/>
          </a:ln>
        </p:spPr>
      </p:sp>
      <p:sp>
        <p:nvSpPr>
          <p:cNvPr id="9" name="Text 7"/>
          <p:cNvSpPr txBox="1"/>
          <p:nvPr/>
        </p:nvSpPr>
        <p:spPr>
          <a:xfrm>
            <a:off x="11228832" y="6446520"/>
            <a:ext cx="457200" cy="274320"/>
          </a:xfrm>
          <a:prstGeom prst="rect">
            <a:avLst/>
          </a:prstGeom>
          <a:noFill/>
          <a:ln/>
        </p:spPr>
        <p:txBody>
          <a:bodyPr wrap="square" lIns="0" tIns="0" rIns="0" bIns="0" rtlCol="0" anchor="t"/>
          <a:lstStyle/>
          <a:p>
            <a:pPr marL="0" indent="0" algn="r">
              <a:buNone/>
            </a:pPr>
            <a:r>
              <a:rPr lang="en-US" sz="1200" dirty="0">
                <a:solidFill>
                  <a:srgbClr val="475569"/>
                </a:solidFill>
                <a:latin typeface="Times New Roman" pitchFamily="34" charset="0"/>
                <a:ea typeface="Times New Roman" pitchFamily="34" charset="-122"/>
                <a:cs typeface="Times New Roman" pitchFamily="34" charset="-120"/>
              </a:rPr>
              <a:t>2</a:t>
            </a:r>
            <a:endParaRPr lang="en-US" sz="1200" dirty="0"/>
          </a:p>
        </p:txBody>
      </p:sp>
      <p:sp>
        <p:nvSpPr>
          <p:cNvPr id="11" name="Text 8"/>
          <p:cNvSpPr txBox="1"/>
          <p:nvPr/>
        </p:nvSpPr>
        <p:spPr>
          <a:xfrm>
            <a:off x="502920" y="1188720"/>
            <a:ext cx="6309360" cy="5120640"/>
          </a:xfrm>
          <a:prstGeom prst="rect">
            <a:avLst/>
          </a:prstGeom>
          <a:noFill/>
          <a:ln/>
        </p:spPr>
        <p:txBody>
          <a:bodyPr wrap="square" lIns="0" tIns="0" rIns="0" bIns="0" rtlCol="0" anchor="t"/>
          <a:lstStyle/>
          <a:p>
            <a:pPr marL="0" indent="0">
              <a:spcAft>
                <a:spcPts val="500"/>
              </a:spcAft>
              <a:buNone/>
            </a:pPr>
            <a:r>
              <a:rPr lang="en-US" sz="2000" b="1" dirty="0">
                <a:solidFill>
                  <a:srgbClr val="1F4E79"/>
                </a:solidFill>
                <a:latin typeface="Times New Roman" pitchFamily="34" charset="0"/>
                <a:ea typeface="Times New Roman" pitchFamily="34" charset="-122"/>
                <a:cs typeface="Times New Roman" pitchFamily="34" charset="-120"/>
              </a:rPr>
              <a:t>WebSentinel — Proposed Solution</a:t>
            </a:r>
            <a:endParaRPr lang="en-US" sz="1700" dirty="0"/>
          </a:p>
          <a:p>
            <a:pPr marL="0" indent="0">
              <a:spcAft>
                <a:spcPts val="500"/>
              </a:spcAft>
              <a:buNone/>
            </a:pPr>
            <a:r>
              <a:rPr lang="en-US" sz="1700" b="1" dirty="0">
                <a:solidFill>
                  <a:srgbClr val="1F4E79"/>
                </a:solidFill>
                <a:latin typeface="Times New Roman" pitchFamily="34" charset="0"/>
                <a:ea typeface="Times New Roman" pitchFamily="34" charset="-122"/>
                <a:cs typeface="Times New Roman" pitchFamily="34" charset="-120"/>
              </a:rPr>
              <a:t>Problem: </a:t>
            </a:r>
            <a:r>
              <a:rPr lang="en-US" sz="1700" dirty="0">
                <a:solidFill>
                  <a:srgbClr val="1A1A1A"/>
                </a:solidFill>
                <a:latin typeface="Times New Roman" pitchFamily="34" charset="0"/>
                <a:ea typeface="Times New Roman" pitchFamily="34" charset="-122"/>
                <a:cs typeface="Times New Roman" pitchFamily="34" charset="-120"/>
              </a:rPr>
              <a:t>Web applications generate large volumes of logs covering logins, access failures, and errors. Reviewing them by hand is slow, and repeated patterns or related events are easy to miss.</a:t>
            </a:r>
            <a:endParaRPr lang="en-US" sz="1700" dirty="0"/>
          </a:p>
          <a:p>
            <a:pPr marL="0" indent="0">
              <a:spcAft>
                <a:spcPts val="500"/>
              </a:spcAft>
              <a:buNone/>
            </a:pPr>
            <a:r>
              <a:rPr lang="en-US" sz="2000" b="1" dirty="0">
                <a:solidFill>
                  <a:srgbClr val="1F4E79"/>
                </a:solidFill>
                <a:latin typeface="Times New Roman" pitchFamily="34" charset="0"/>
                <a:ea typeface="Times New Roman" pitchFamily="34" charset="-122"/>
                <a:cs typeface="Times New Roman" pitchFamily="34" charset="-120"/>
              </a:rPr>
              <a:t>Our Solution:</a:t>
            </a:r>
            <a:endParaRPr lang="en-US" sz="1700" dirty="0"/>
          </a:p>
          <a:p>
            <a:pPr marL="342900" indent="-342900">
              <a:spcAft>
                <a:spcPts val="500"/>
              </a:spcAft>
              <a:buSzPct val="100000"/>
              <a:buChar char="•"/>
            </a:pPr>
            <a:r>
              <a:rPr lang="en-US" sz="1700" dirty="0">
                <a:solidFill>
                  <a:srgbClr val="1A1A1A"/>
                </a:solidFill>
                <a:latin typeface="Times New Roman" pitchFamily="34" charset="0"/>
                <a:ea typeface="Times New Roman" pitchFamily="34" charset="-122"/>
                <a:cs typeface="Times New Roman" pitchFamily="34" charset="-120"/>
              </a:rPr>
              <a:t>Log Ingestion: Import and validate structured JSON logs.</a:t>
            </a:r>
            <a:endParaRPr lang="en-US" sz="1700" dirty="0"/>
          </a:p>
          <a:p>
            <a:pPr marL="342900" indent="-342900">
              <a:spcAft>
                <a:spcPts val="500"/>
              </a:spcAft>
              <a:buSzPct val="100000"/>
              <a:buChar char="•"/>
            </a:pPr>
            <a:r>
              <a:rPr lang="en-US" sz="1700" dirty="0">
                <a:solidFill>
                  <a:srgbClr val="1A1A1A"/>
                </a:solidFill>
                <a:latin typeface="Times New Roman" pitchFamily="34" charset="0"/>
                <a:ea typeface="Times New Roman" pitchFamily="34" charset="-122"/>
                <a:cs typeface="Times New Roman" pitchFamily="34" charset="-120"/>
              </a:rPr>
              <a:t>Rule-Based Detection: Flag repeated failed logins, endpoint probing, and unauthorized access.</a:t>
            </a:r>
            <a:endParaRPr lang="en-US" sz="1700" dirty="0"/>
          </a:p>
          <a:p>
            <a:pPr marL="342900" indent="-342900">
              <a:spcAft>
                <a:spcPts val="500"/>
              </a:spcAft>
              <a:buSzPct val="100000"/>
              <a:buChar char="•"/>
            </a:pPr>
            <a:r>
              <a:rPr lang="en-US" sz="1700" dirty="0">
                <a:solidFill>
                  <a:srgbClr val="1A1A1A"/>
                </a:solidFill>
                <a:latin typeface="Times New Roman" pitchFamily="34" charset="0"/>
                <a:ea typeface="Times New Roman" pitchFamily="34" charset="-122"/>
                <a:cs typeface="Times New Roman" pitchFamily="34" charset="-120"/>
              </a:rPr>
              <a:t>Evidence-Backed Alerts: Link every alert to its supporting events.</a:t>
            </a:r>
            <a:endParaRPr lang="en-US" sz="1700" dirty="0"/>
          </a:p>
          <a:p>
            <a:pPr marL="342900" indent="-342900">
              <a:spcAft>
                <a:spcPts val="500"/>
              </a:spcAft>
              <a:buSzPct val="100000"/>
              <a:buChar char="•"/>
            </a:pPr>
            <a:r>
              <a:rPr lang="en-US" sz="1700" dirty="0">
                <a:solidFill>
                  <a:srgbClr val="1A1A1A"/>
                </a:solidFill>
                <a:latin typeface="Times New Roman" pitchFamily="34" charset="0"/>
                <a:ea typeface="Times New Roman" pitchFamily="34" charset="-122"/>
                <a:cs typeface="Times New Roman" pitchFamily="34" charset="-120"/>
              </a:rPr>
              <a:t>Incident Correlation: Group related alerts into one timeline.</a:t>
            </a:r>
            <a:endParaRPr lang="en-US" sz="1700" dirty="0"/>
          </a:p>
          <a:p>
            <a:pPr marL="342900" indent="-342900">
              <a:spcAft>
                <a:spcPts val="500"/>
              </a:spcAft>
              <a:buSzPct val="100000"/>
              <a:buChar char="•"/>
            </a:pPr>
            <a:r>
              <a:rPr lang="en-US" sz="1700" dirty="0">
                <a:solidFill>
                  <a:srgbClr val="1A1A1A"/>
                </a:solidFill>
                <a:latin typeface="Times New Roman" pitchFamily="34" charset="0"/>
                <a:ea typeface="Times New Roman" pitchFamily="34" charset="-122"/>
                <a:cs typeface="Times New Roman" pitchFamily="34" charset="-120"/>
              </a:rPr>
              <a:t>Risk Scoring: Prioritize findings with an explainable 0–100 score.</a:t>
            </a:r>
            <a:endParaRPr lang="en-US" sz="1700" dirty="0"/>
          </a:p>
          <a:p>
            <a:pPr marL="342900" indent="-342900">
              <a:spcAft>
                <a:spcPts val="500"/>
              </a:spcAft>
              <a:buSzPct val="100000"/>
              <a:buChar char="•"/>
            </a:pPr>
            <a:r>
              <a:rPr lang="en-US" sz="1700" dirty="0">
                <a:solidFill>
                  <a:srgbClr val="1A1A1A"/>
                </a:solidFill>
                <a:latin typeface="Times New Roman" pitchFamily="34" charset="0"/>
                <a:ea typeface="Times New Roman" pitchFamily="34" charset="-122"/>
                <a:cs typeface="Times New Roman" pitchFamily="34" charset="-120"/>
              </a:rPr>
              <a:t>Log Explorer and Reports: Search, filter, and export findings.</a:t>
            </a:r>
            <a:endParaRPr lang="en-US" sz="1700" dirty="0"/>
          </a:p>
          <a:p>
            <a:pPr marL="0" indent="0">
              <a:spcAft>
                <a:spcPts val="500"/>
              </a:spcAft>
              <a:buNone/>
            </a:pPr>
            <a:r>
              <a:rPr lang="en-US" sz="1700" b="1" dirty="0">
                <a:solidFill>
                  <a:srgbClr val="1F4E79"/>
                </a:solidFill>
                <a:latin typeface="Times New Roman" pitchFamily="34" charset="0"/>
                <a:ea typeface="Times New Roman" pitchFamily="34" charset="-122"/>
                <a:cs typeface="Times New Roman" pitchFamily="34" charset="-120"/>
              </a:rPr>
              <a:t>Key Idea: </a:t>
            </a:r>
            <a:r>
              <a:rPr lang="en-US" sz="1700" dirty="0">
                <a:solidFill>
                  <a:srgbClr val="1A1A1A"/>
                </a:solidFill>
                <a:latin typeface="Times New Roman" pitchFamily="34" charset="0"/>
                <a:ea typeface="Times New Roman" pitchFamily="34" charset="-122"/>
                <a:cs typeface="Times New Roman" pitchFamily="34" charset="-120"/>
              </a:rPr>
              <a:t>Turn raw application logs into evidence-based security insights.</a:t>
            </a:r>
            <a:endParaRPr lang="en-US" sz="1700" dirty="0"/>
          </a:p>
          <a:p>
            <a:pPr marL="0" indent="0">
              <a:spcAft>
                <a:spcPts val="500"/>
              </a:spcAft>
              <a:buNone/>
            </a:pPr>
            <a:r>
              <a:rPr lang="en-US" sz="1700" b="1" dirty="0">
                <a:solidFill>
                  <a:srgbClr val="1F4E79"/>
                </a:solidFill>
                <a:latin typeface="Times New Roman" pitchFamily="34" charset="0"/>
                <a:ea typeface="Times New Roman" pitchFamily="34" charset="-122"/>
                <a:cs typeface="Times New Roman" pitchFamily="34" charset="-120"/>
              </a:rPr>
              <a:t>Scope: </a:t>
            </a:r>
            <a:r>
              <a:rPr lang="en-US" sz="1700" dirty="0">
                <a:solidFill>
                  <a:srgbClr val="1A1A1A"/>
                </a:solidFill>
                <a:latin typeface="Times New Roman" pitchFamily="34" charset="0"/>
                <a:ea typeface="Times New Roman" pitchFamily="34" charset="-122"/>
                <a:cs typeface="Times New Roman" pitchFamily="34" charset="-120"/>
              </a:rPr>
              <a:t>Analyzes available logs only; suspicious activity is not proof of a successful attack.</a:t>
            </a:r>
            <a:endParaRPr lang="en-US" sz="1700" dirty="0"/>
          </a:p>
        </p:txBody>
      </p:sp>
      <p:sp>
        <p:nvSpPr>
          <p:cNvPr id="12" name="Shape 9"/>
          <p:cNvSpPr/>
          <p:nvPr/>
        </p:nvSpPr>
        <p:spPr>
          <a:xfrm>
            <a:off x="7589520" y="1371600"/>
            <a:ext cx="3840480" cy="640080"/>
          </a:xfrm>
          <a:prstGeom prst="roundRect">
            <a:avLst>
              <a:gd name="adj" fmla="val 11429"/>
            </a:avLst>
          </a:prstGeom>
          <a:solidFill>
            <a:srgbClr val="EAF1F8"/>
          </a:solidFill>
          <a:ln w="15875">
            <a:solidFill>
              <a:srgbClr val="1F4E79"/>
            </a:solidFill>
            <a:prstDash val="solid"/>
          </a:ln>
        </p:spPr>
      </p:sp>
      <p:sp>
        <p:nvSpPr>
          <p:cNvPr id="13" name="Text 10"/>
          <p:cNvSpPr txBox="1"/>
          <p:nvPr/>
        </p:nvSpPr>
        <p:spPr>
          <a:xfrm>
            <a:off x="7589520" y="1371600"/>
            <a:ext cx="3840480" cy="640080"/>
          </a:xfrm>
          <a:prstGeom prst="rect">
            <a:avLst/>
          </a:prstGeom>
          <a:noFill/>
          <a:ln/>
        </p:spPr>
        <p:txBody>
          <a:bodyPr wrap="square" lIns="0" tIns="0" rIns="0" bIns="0" rtlCol="0" anchor="ctr"/>
          <a:lstStyle/>
          <a:p>
            <a:pPr marL="0" indent="0" algn="ctr">
              <a:buNone/>
            </a:pPr>
            <a:r>
              <a:rPr lang="en-US" sz="1600" b="1" dirty="0">
                <a:solidFill>
                  <a:srgbClr val="1F4E79"/>
                </a:solidFill>
                <a:latin typeface="Times New Roman" pitchFamily="34" charset="0"/>
                <a:ea typeface="Times New Roman" pitchFamily="34" charset="-122"/>
                <a:cs typeface="Times New Roman" pitchFamily="34" charset="-120"/>
              </a:rPr>
              <a:t>Application Logs (JSON)</a:t>
            </a:r>
            <a:endParaRPr lang="en-US" sz="1600" dirty="0"/>
          </a:p>
        </p:txBody>
      </p:sp>
      <p:sp>
        <p:nvSpPr>
          <p:cNvPr id="14" name="Shape 11"/>
          <p:cNvSpPr/>
          <p:nvPr/>
        </p:nvSpPr>
        <p:spPr>
          <a:xfrm>
            <a:off x="9509760" y="2011680"/>
            <a:ext cx="0" cy="292608"/>
          </a:xfrm>
          <a:prstGeom prst="line">
            <a:avLst/>
          </a:prstGeom>
          <a:noFill/>
          <a:ln w="25400">
            <a:solidFill>
              <a:srgbClr val="1F4E79"/>
            </a:solidFill>
            <a:prstDash val="solid"/>
            <a:tailEnd type="triangle"/>
          </a:ln>
        </p:spPr>
      </p:sp>
      <p:sp>
        <p:nvSpPr>
          <p:cNvPr id="15" name="Shape 12"/>
          <p:cNvSpPr/>
          <p:nvPr/>
        </p:nvSpPr>
        <p:spPr>
          <a:xfrm>
            <a:off x="7589520" y="2304288"/>
            <a:ext cx="3840480" cy="640080"/>
          </a:xfrm>
          <a:prstGeom prst="roundRect">
            <a:avLst>
              <a:gd name="adj" fmla="val 11429"/>
            </a:avLst>
          </a:prstGeom>
          <a:solidFill>
            <a:srgbClr val="EAF1F8"/>
          </a:solidFill>
          <a:ln w="15875">
            <a:solidFill>
              <a:srgbClr val="1F4E79"/>
            </a:solidFill>
            <a:prstDash val="solid"/>
          </a:ln>
        </p:spPr>
      </p:sp>
      <p:sp>
        <p:nvSpPr>
          <p:cNvPr id="16" name="Text 13"/>
          <p:cNvSpPr txBox="1"/>
          <p:nvPr/>
        </p:nvSpPr>
        <p:spPr>
          <a:xfrm>
            <a:off x="7589520" y="2304288"/>
            <a:ext cx="3840480" cy="640080"/>
          </a:xfrm>
          <a:prstGeom prst="rect">
            <a:avLst/>
          </a:prstGeom>
          <a:noFill/>
          <a:ln/>
        </p:spPr>
        <p:txBody>
          <a:bodyPr wrap="square" lIns="0" tIns="0" rIns="0" bIns="0" rtlCol="0" anchor="ctr"/>
          <a:lstStyle/>
          <a:p>
            <a:pPr marL="0" indent="0" algn="ctr">
              <a:buNone/>
            </a:pPr>
            <a:r>
              <a:rPr lang="en-US" sz="1600" b="1" dirty="0">
                <a:solidFill>
                  <a:srgbClr val="1F4E79"/>
                </a:solidFill>
                <a:latin typeface="Times New Roman" pitchFamily="34" charset="0"/>
                <a:ea typeface="Times New Roman" pitchFamily="34" charset="-122"/>
                <a:cs typeface="Times New Roman" pitchFamily="34" charset="-120"/>
              </a:rPr>
              <a:t>Validation and Normalization</a:t>
            </a:r>
            <a:endParaRPr lang="en-US" sz="1600" dirty="0"/>
          </a:p>
        </p:txBody>
      </p:sp>
      <p:sp>
        <p:nvSpPr>
          <p:cNvPr id="17" name="Shape 14"/>
          <p:cNvSpPr/>
          <p:nvPr/>
        </p:nvSpPr>
        <p:spPr>
          <a:xfrm>
            <a:off x="9509760" y="2944368"/>
            <a:ext cx="0" cy="292608"/>
          </a:xfrm>
          <a:prstGeom prst="line">
            <a:avLst/>
          </a:prstGeom>
          <a:noFill/>
          <a:ln w="25400">
            <a:solidFill>
              <a:srgbClr val="1F4E79"/>
            </a:solidFill>
            <a:prstDash val="solid"/>
            <a:tailEnd type="triangle"/>
          </a:ln>
        </p:spPr>
      </p:sp>
      <p:sp>
        <p:nvSpPr>
          <p:cNvPr id="18" name="Shape 15"/>
          <p:cNvSpPr/>
          <p:nvPr/>
        </p:nvSpPr>
        <p:spPr>
          <a:xfrm>
            <a:off x="7589520" y="3236976"/>
            <a:ext cx="3840480" cy="640080"/>
          </a:xfrm>
          <a:prstGeom prst="roundRect">
            <a:avLst>
              <a:gd name="adj" fmla="val 11429"/>
            </a:avLst>
          </a:prstGeom>
          <a:solidFill>
            <a:srgbClr val="EAF1F8"/>
          </a:solidFill>
          <a:ln w="15875">
            <a:solidFill>
              <a:srgbClr val="1F4E79"/>
            </a:solidFill>
            <a:prstDash val="solid"/>
          </a:ln>
        </p:spPr>
      </p:sp>
      <p:sp>
        <p:nvSpPr>
          <p:cNvPr id="19" name="Text 16"/>
          <p:cNvSpPr txBox="1"/>
          <p:nvPr/>
        </p:nvSpPr>
        <p:spPr>
          <a:xfrm>
            <a:off x="7589520" y="3236976"/>
            <a:ext cx="3840480" cy="640080"/>
          </a:xfrm>
          <a:prstGeom prst="rect">
            <a:avLst/>
          </a:prstGeom>
          <a:noFill/>
          <a:ln/>
        </p:spPr>
        <p:txBody>
          <a:bodyPr wrap="square" lIns="0" tIns="0" rIns="0" bIns="0" rtlCol="0" anchor="ctr"/>
          <a:lstStyle/>
          <a:p>
            <a:pPr marL="0" indent="0" algn="ctr">
              <a:buNone/>
            </a:pPr>
            <a:r>
              <a:rPr lang="en-US" sz="1600" b="1" dirty="0">
                <a:solidFill>
                  <a:srgbClr val="1F4E79"/>
                </a:solidFill>
                <a:latin typeface="Times New Roman" pitchFamily="34" charset="0"/>
                <a:ea typeface="Times New Roman" pitchFamily="34" charset="-122"/>
                <a:cs typeface="Times New Roman" pitchFamily="34" charset="-120"/>
              </a:rPr>
              <a:t>Rule-Based Detection Engine</a:t>
            </a:r>
            <a:endParaRPr lang="en-US" sz="1600" dirty="0"/>
          </a:p>
        </p:txBody>
      </p:sp>
      <p:sp>
        <p:nvSpPr>
          <p:cNvPr id="20" name="Shape 17"/>
          <p:cNvSpPr/>
          <p:nvPr/>
        </p:nvSpPr>
        <p:spPr>
          <a:xfrm>
            <a:off x="9509760" y="3877056"/>
            <a:ext cx="0" cy="292608"/>
          </a:xfrm>
          <a:prstGeom prst="line">
            <a:avLst/>
          </a:prstGeom>
          <a:noFill/>
          <a:ln w="25400">
            <a:solidFill>
              <a:srgbClr val="1F4E79"/>
            </a:solidFill>
            <a:prstDash val="solid"/>
            <a:tailEnd type="triangle"/>
          </a:ln>
        </p:spPr>
      </p:sp>
      <p:sp>
        <p:nvSpPr>
          <p:cNvPr id="21" name="Shape 18"/>
          <p:cNvSpPr/>
          <p:nvPr/>
        </p:nvSpPr>
        <p:spPr>
          <a:xfrm>
            <a:off x="7589520" y="4169664"/>
            <a:ext cx="3840480" cy="640080"/>
          </a:xfrm>
          <a:prstGeom prst="roundRect">
            <a:avLst>
              <a:gd name="adj" fmla="val 11429"/>
            </a:avLst>
          </a:prstGeom>
          <a:solidFill>
            <a:srgbClr val="EAF1F8"/>
          </a:solidFill>
          <a:ln w="15875">
            <a:solidFill>
              <a:srgbClr val="1F4E79"/>
            </a:solidFill>
            <a:prstDash val="solid"/>
          </a:ln>
        </p:spPr>
      </p:sp>
      <p:sp>
        <p:nvSpPr>
          <p:cNvPr id="22" name="Text 19"/>
          <p:cNvSpPr txBox="1"/>
          <p:nvPr/>
        </p:nvSpPr>
        <p:spPr>
          <a:xfrm>
            <a:off x="7589520" y="4169664"/>
            <a:ext cx="3840480" cy="640080"/>
          </a:xfrm>
          <a:prstGeom prst="rect">
            <a:avLst/>
          </a:prstGeom>
          <a:noFill/>
          <a:ln/>
        </p:spPr>
        <p:txBody>
          <a:bodyPr wrap="square" lIns="0" tIns="0" rIns="0" bIns="0" rtlCol="0" anchor="ctr"/>
          <a:lstStyle/>
          <a:p>
            <a:pPr marL="0" indent="0" algn="ctr">
              <a:buNone/>
            </a:pPr>
            <a:r>
              <a:rPr lang="en-US" sz="1600" b="1" dirty="0">
                <a:solidFill>
                  <a:srgbClr val="1F4E79"/>
                </a:solidFill>
                <a:latin typeface="Times New Roman" pitchFamily="34" charset="0"/>
                <a:ea typeface="Times New Roman" pitchFamily="34" charset="-122"/>
                <a:cs typeface="Times New Roman" pitchFamily="34" charset="-120"/>
              </a:rPr>
              <a:t>Alerts, Incidents, Risk Scores</a:t>
            </a:r>
            <a:endParaRPr lang="en-US" sz="1600" dirty="0"/>
          </a:p>
        </p:txBody>
      </p:sp>
      <p:sp>
        <p:nvSpPr>
          <p:cNvPr id="23" name="Shape 20"/>
          <p:cNvSpPr/>
          <p:nvPr/>
        </p:nvSpPr>
        <p:spPr>
          <a:xfrm>
            <a:off x="9509760" y="4809744"/>
            <a:ext cx="0" cy="292608"/>
          </a:xfrm>
          <a:prstGeom prst="line">
            <a:avLst/>
          </a:prstGeom>
          <a:noFill/>
          <a:ln w="25400">
            <a:solidFill>
              <a:srgbClr val="1F4E79"/>
            </a:solidFill>
            <a:prstDash val="solid"/>
            <a:tailEnd type="triangle"/>
          </a:ln>
        </p:spPr>
      </p:sp>
      <p:sp>
        <p:nvSpPr>
          <p:cNvPr id="24" name="Shape 21"/>
          <p:cNvSpPr/>
          <p:nvPr/>
        </p:nvSpPr>
        <p:spPr>
          <a:xfrm>
            <a:off x="7589520" y="5102352"/>
            <a:ext cx="3840480" cy="640080"/>
          </a:xfrm>
          <a:prstGeom prst="roundRect">
            <a:avLst>
              <a:gd name="adj" fmla="val 11429"/>
            </a:avLst>
          </a:prstGeom>
          <a:solidFill>
            <a:srgbClr val="1F4E79"/>
          </a:solidFill>
          <a:ln w="15875">
            <a:solidFill>
              <a:srgbClr val="1F4E79"/>
            </a:solidFill>
            <a:prstDash val="solid"/>
          </a:ln>
        </p:spPr>
      </p:sp>
      <p:sp>
        <p:nvSpPr>
          <p:cNvPr id="25" name="Text 22"/>
          <p:cNvSpPr txBox="1"/>
          <p:nvPr/>
        </p:nvSpPr>
        <p:spPr>
          <a:xfrm>
            <a:off x="7589520" y="5102352"/>
            <a:ext cx="3840480" cy="640080"/>
          </a:xfrm>
          <a:prstGeom prst="rect">
            <a:avLst/>
          </a:prstGeom>
          <a:noFill/>
          <a:ln/>
        </p:spPr>
        <p:txBody>
          <a:bodyPr wrap="square" lIns="0" tIns="0" rIns="0" bIns="0" rtlCol="0" anchor="ctr"/>
          <a:lstStyle/>
          <a:p>
            <a:pPr marL="0" indent="0" algn="ctr">
              <a:buNone/>
            </a:pPr>
            <a:r>
              <a:rPr lang="en-US" sz="1600" b="1" dirty="0">
                <a:solidFill>
                  <a:srgbClr val="FFFFFF"/>
                </a:solidFill>
                <a:latin typeface="Times New Roman" pitchFamily="34" charset="0"/>
                <a:ea typeface="Times New Roman" pitchFamily="34" charset="-122"/>
                <a:cs typeface="Times New Roman" pitchFamily="34" charset="-120"/>
              </a:rPr>
              <a:t>Analyst Dashboard</a:t>
            </a:r>
            <a:endParaRPr lang="en-US" sz="1600" dirty="0"/>
          </a:p>
        </p:txBody>
      </p:sp>
      <p:sp>
        <p:nvSpPr>
          <p:cNvPr id="26" name="Text 23"/>
          <p:cNvSpPr txBox="1"/>
          <p:nvPr/>
        </p:nvSpPr>
        <p:spPr>
          <a:xfrm>
            <a:off x="7589520" y="6080760"/>
            <a:ext cx="3840480" cy="274320"/>
          </a:xfrm>
          <a:prstGeom prst="rect">
            <a:avLst/>
          </a:prstGeom>
          <a:noFill/>
          <a:ln/>
        </p:spPr>
        <p:txBody>
          <a:bodyPr wrap="square" lIns="0" tIns="0" rIns="0" bIns="0" rtlCol="0" anchor="t"/>
          <a:lstStyle/>
          <a:p>
            <a:pPr marL="0" indent="0" algn="ctr">
              <a:buNone/>
            </a:pPr>
            <a:r>
              <a:rPr lang="en-US" sz="1200" i="1" dirty="0">
                <a:solidFill>
                  <a:srgbClr val="475569"/>
                </a:solidFill>
                <a:latin typeface="Times New Roman" pitchFamily="34" charset="0"/>
                <a:ea typeface="Times New Roman" pitchFamily="34" charset="-122"/>
                <a:cs typeface="Times New Roman" pitchFamily="34" charset="-120"/>
              </a:rPr>
              <a:t>Conceptual flow</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1480" y="262890"/>
            <a:ext cx="416052" cy="416052"/>
          </a:xfrm>
          <a:prstGeom prst="ellipse">
            <a:avLst/>
          </a:prstGeom>
          <a:solidFill>
            <a:srgbClr val="1F4E79">
              <a:alpha val="65000"/>
            </a:srgbClr>
          </a:solidFill>
          <a:ln w="12700">
            <a:solidFill>
              <a:srgbClr val="FFFFFF"/>
            </a:solidFill>
            <a:prstDash val="solid"/>
          </a:ln>
        </p:spPr>
      </p:sp>
      <p:sp>
        <p:nvSpPr>
          <p:cNvPr id="3" name="Shape 1"/>
          <p:cNvSpPr/>
          <p:nvPr/>
        </p:nvSpPr>
        <p:spPr>
          <a:xfrm>
            <a:off x="587502" y="262890"/>
            <a:ext cx="416052" cy="416052"/>
          </a:xfrm>
          <a:prstGeom prst="ellipse">
            <a:avLst/>
          </a:prstGeom>
          <a:solidFill>
            <a:srgbClr val="0D9488">
              <a:alpha val="65000"/>
            </a:srgbClr>
          </a:solidFill>
          <a:ln w="12700">
            <a:solidFill>
              <a:srgbClr val="FFFFFF"/>
            </a:solidFill>
            <a:prstDash val="solid"/>
          </a:ln>
        </p:spPr>
      </p:sp>
      <p:sp>
        <p:nvSpPr>
          <p:cNvPr id="4" name="Shape 2"/>
          <p:cNvSpPr/>
          <p:nvPr/>
        </p:nvSpPr>
        <p:spPr>
          <a:xfrm>
            <a:off x="763524" y="262890"/>
            <a:ext cx="416052" cy="416052"/>
          </a:xfrm>
          <a:prstGeom prst="ellipse">
            <a:avLst/>
          </a:prstGeom>
          <a:solidFill>
            <a:srgbClr val="2563EB">
              <a:alpha val="65000"/>
            </a:srgbClr>
          </a:solidFill>
          <a:ln w="12700">
            <a:solidFill>
              <a:srgbClr val="FFFFFF"/>
            </a:solidFill>
            <a:prstDash val="solid"/>
          </a:ln>
        </p:spPr>
      </p:sp>
      <p:sp>
        <p:nvSpPr>
          <p:cNvPr id="5" name="Text 3"/>
          <p:cNvSpPr txBox="1"/>
          <p:nvPr/>
        </p:nvSpPr>
        <p:spPr>
          <a:xfrm>
            <a:off x="1275588" y="230886"/>
            <a:ext cx="1280160" cy="360045"/>
          </a:xfrm>
          <a:prstGeom prst="rect">
            <a:avLst/>
          </a:prstGeom>
          <a:noFill/>
          <a:ln/>
        </p:spPr>
        <p:txBody>
          <a:bodyPr wrap="none" lIns="0" tIns="0" rIns="0" bIns="0" rtlCol="0" anchor="ctr"/>
          <a:lstStyle/>
          <a:p>
            <a:pPr marL="0" indent="0">
              <a:buNone/>
            </a:pPr>
            <a:r>
              <a:rPr lang="en-US" sz="1200" b="1" dirty="0">
                <a:solidFill>
                  <a:srgbClr val="1F4E79"/>
                </a:solidFill>
                <a:latin typeface="Arial" pitchFamily="34" charset="0"/>
                <a:ea typeface="Arial" pitchFamily="34" charset="-122"/>
                <a:cs typeface="Arial" pitchFamily="34" charset="-120"/>
              </a:rPr>
              <a:t>CONSENSUS</a:t>
            </a:r>
            <a:endParaRPr lang="en-US" sz="1200" dirty="0"/>
          </a:p>
        </p:txBody>
      </p:sp>
      <p:sp>
        <p:nvSpPr>
          <p:cNvPr id="6" name="Text 4"/>
          <p:cNvSpPr txBox="1"/>
          <p:nvPr/>
        </p:nvSpPr>
        <p:spPr>
          <a:xfrm>
            <a:off x="1275588" y="582930"/>
            <a:ext cx="1120140" cy="176022"/>
          </a:xfrm>
          <a:prstGeom prst="rect">
            <a:avLst/>
          </a:prstGeom>
          <a:noFill/>
          <a:ln/>
        </p:spPr>
        <p:txBody>
          <a:bodyPr wrap="square" lIns="0" tIns="0" rIns="0" bIns="0" rtlCol="0" anchor="ctr"/>
          <a:lstStyle/>
          <a:p>
            <a:pPr marL="0" indent="0">
              <a:buNone/>
            </a:pPr>
            <a:r>
              <a:rPr lang="en-US" sz="700" b="1" kern="0" spc="200" dirty="0">
                <a:solidFill>
                  <a:srgbClr val="0D9488"/>
                </a:solidFill>
                <a:latin typeface="Arial" pitchFamily="34" charset="0"/>
                <a:ea typeface="Arial" pitchFamily="34" charset="-122"/>
                <a:cs typeface="Arial" pitchFamily="34" charset="-120"/>
              </a:rPr>
              <a:t>TEAM KH001</a:t>
            </a:r>
            <a:endParaRPr lang="en-US" sz="700" dirty="0"/>
          </a:p>
        </p:txBody>
      </p:sp>
      <p:sp>
        <p:nvSpPr>
          <p:cNvPr id="7" name="Text 5"/>
          <p:cNvSpPr txBox="1"/>
          <p:nvPr/>
        </p:nvSpPr>
        <p:spPr>
          <a:xfrm>
            <a:off x="2560320" y="274320"/>
            <a:ext cx="7132320" cy="640080"/>
          </a:xfrm>
          <a:prstGeom prst="rect">
            <a:avLst/>
          </a:prstGeom>
          <a:noFill/>
          <a:ln/>
        </p:spPr>
        <p:txBody>
          <a:bodyPr wrap="square" lIns="0" tIns="0" rIns="0" bIns="0" rtlCol="0" anchor="ctr"/>
          <a:lstStyle/>
          <a:p>
            <a:pPr marL="0" indent="0" algn="ctr">
              <a:buNone/>
            </a:pPr>
            <a:r>
              <a:rPr lang="en-US" sz="2800" b="1" dirty="0">
                <a:solidFill>
                  <a:srgbClr val="1F4E79"/>
                </a:solidFill>
                <a:latin typeface="Times New Roman" pitchFamily="34" charset="0"/>
                <a:ea typeface="Times New Roman" pitchFamily="34" charset="-122"/>
                <a:cs typeface="Times New Roman" pitchFamily="34" charset="-120"/>
              </a:rPr>
              <a:t>TECHNICAL APPROACH</a:t>
            </a:r>
            <a:endParaRPr lang="en-US" sz="2800" dirty="0"/>
          </a:p>
        </p:txBody>
      </p:sp>
      <p:sp>
        <p:nvSpPr>
          <p:cNvPr id="8" name="Shape 6"/>
          <p:cNvSpPr/>
          <p:nvPr/>
        </p:nvSpPr>
        <p:spPr>
          <a:xfrm>
            <a:off x="502920" y="1024128"/>
            <a:ext cx="11183112" cy="0"/>
          </a:xfrm>
          <a:prstGeom prst="line">
            <a:avLst/>
          </a:prstGeom>
          <a:noFill/>
          <a:ln w="15875">
            <a:solidFill>
              <a:srgbClr val="1F4E79"/>
            </a:solidFill>
            <a:prstDash val="solid"/>
          </a:ln>
        </p:spPr>
      </p:sp>
      <p:sp>
        <p:nvSpPr>
          <p:cNvPr id="9" name="Text 7"/>
          <p:cNvSpPr txBox="1"/>
          <p:nvPr/>
        </p:nvSpPr>
        <p:spPr>
          <a:xfrm>
            <a:off x="11228832" y="6446520"/>
            <a:ext cx="457200" cy="274320"/>
          </a:xfrm>
          <a:prstGeom prst="rect">
            <a:avLst/>
          </a:prstGeom>
          <a:noFill/>
          <a:ln/>
        </p:spPr>
        <p:txBody>
          <a:bodyPr wrap="square" lIns="0" tIns="0" rIns="0" bIns="0" rtlCol="0" anchor="t"/>
          <a:lstStyle/>
          <a:p>
            <a:pPr marL="0" indent="0" algn="r">
              <a:buNone/>
            </a:pPr>
            <a:r>
              <a:rPr lang="en-US" sz="1200" dirty="0">
                <a:solidFill>
                  <a:srgbClr val="475569"/>
                </a:solidFill>
                <a:latin typeface="Times New Roman" pitchFamily="34" charset="0"/>
                <a:ea typeface="Times New Roman" pitchFamily="34" charset="-122"/>
                <a:cs typeface="Times New Roman" pitchFamily="34" charset="-120"/>
              </a:rPr>
              <a:t>3</a:t>
            </a:r>
            <a:endParaRPr lang="en-US" sz="1200" dirty="0"/>
          </a:p>
        </p:txBody>
      </p:sp>
      <p:sp>
        <p:nvSpPr>
          <p:cNvPr id="11" name="Text 8"/>
          <p:cNvSpPr txBox="1"/>
          <p:nvPr/>
        </p:nvSpPr>
        <p:spPr>
          <a:xfrm>
            <a:off x="502920" y="1188720"/>
            <a:ext cx="6400800" cy="5212080"/>
          </a:xfrm>
          <a:prstGeom prst="rect">
            <a:avLst/>
          </a:prstGeom>
          <a:noFill/>
          <a:ln/>
        </p:spPr>
        <p:txBody>
          <a:bodyPr wrap="square" lIns="0" tIns="0" rIns="0" bIns="0" rtlCol="0" anchor="t"/>
          <a:lstStyle/>
          <a:p>
            <a:pPr marL="0" indent="0">
              <a:spcAft>
                <a:spcPts val="300"/>
              </a:spcAft>
              <a:buNone/>
            </a:pPr>
            <a:r>
              <a:rPr lang="en-US" sz="1900" b="1" dirty="0">
                <a:solidFill>
                  <a:srgbClr val="1F4E79"/>
                </a:solidFill>
                <a:latin typeface="Times New Roman" pitchFamily="34" charset="0"/>
                <a:ea typeface="Times New Roman" pitchFamily="34" charset="-122"/>
                <a:cs typeface="Times New Roman" pitchFamily="34" charset="-120"/>
              </a:rPr>
              <a:t>Technologies Used</a:t>
            </a:r>
            <a:endParaRPr lang="en-US" sz="1600" dirty="0"/>
          </a:p>
          <a:p>
            <a:pPr marL="342900" indent="-342900">
              <a:spcAft>
                <a:spcPts val="300"/>
              </a:spcAft>
              <a:buSzPct val="100000"/>
              <a:buChar char="•"/>
            </a:pPr>
            <a:r>
              <a:rPr lang="en-US" sz="1600" dirty="0">
                <a:solidFill>
                  <a:srgbClr val="1A1A1A"/>
                </a:solidFill>
                <a:latin typeface="Times New Roman" pitchFamily="34" charset="0"/>
                <a:ea typeface="Times New Roman" pitchFamily="34" charset="-122"/>
                <a:cs typeface="Times New Roman" pitchFamily="34" charset="-120"/>
              </a:rPr>
              <a:t>Frontend: React, Vite, Tailwind CSS, JavaScript</a:t>
            </a:r>
            <a:endParaRPr lang="en-US" sz="1600" dirty="0"/>
          </a:p>
          <a:p>
            <a:pPr marL="342900" indent="-342900">
              <a:spcAft>
                <a:spcPts val="300"/>
              </a:spcAft>
              <a:buSzPct val="100000"/>
              <a:buChar char="•"/>
            </a:pPr>
            <a:r>
              <a:rPr lang="en-US" sz="1600" dirty="0">
                <a:solidFill>
                  <a:srgbClr val="1A1A1A"/>
                </a:solidFill>
                <a:latin typeface="Times New Roman" pitchFamily="34" charset="0"/>
                <a:ea typeface="Times New Roman" pitchFamily="34" charset="-122"/>
                <a:cs typeface="Times New Roman" pitchFamily="34" charset="-120"/>
              </a:rPr>
              <a:t>Backend: Node.js, Express.js REST API, Zod validation</a:t>
            </a:r>
            <a:endParaRPr lang="en-US" sz="1600" dirty="0"/>
          </a:p>
          <a:p>
            <a:pPr marL="342900" indent="-342900">
              <a:spcAft>
                <a:spcPts val="300"/>
              </a:spcAft>
              <a:buSzPct val="100000"/>
              <a:buChar char="•"/>
            </a:pPr>
            <a:r>
              <a:rPr lang="en-US" sz="1600" dirty="0">
                <a:solidFill>
                  <a:srgbClr val="1A1A1A"/>
                </a:solidFill>
                <a:latin typeface="Times New Roman" pitchFamily="34" charset="0"/>
                <a:ea typeface="Times New Roman" pitchFamily="34" charset="-122"/>
                <a:cs typeface="Times New Roman" pitchFamily="34" charset="-120"/>
              </a:rPr>
              <a:t>Database: PostgreSQL, Drizzle ORM, Drizzle Kit migrations</a:t>
            </a:r>
            <a:endParaRPr lang="en-US" sz="1600" dirty="0"/>
          </a:p>
          <a:p>
            <a:pPr marL="342900" indent="-342900">
              <a:spcAft>
                <a:spcPts val="300"/>
              </a:spcAft>
              <a:buSzPct val="100000"/>
              <a:buChar char="•"/>
            </a:pPr>
            <a:r>
              <a:rPr lang="en-US" sz="1600" dirty="0">
                <a:solidFill>
                  <a:srgbClr val="1A1A1A"/>
                </a:solidFill>
                <a:latin typeface="Times New Roman" pitchFamily="34" charset="0"/>
                <a:ea typeface="Times New Roman" pitchFamily="34" charset="-122"/>
                <a:cs typeface="Times New Roman" pitchFamily="34" charset="-120"/>
              </a:rPr>
              <a:t>Visualization: Recharts and Lucide React icons</a:t>
            </a:r>
            <a:endParaRPr lang="en-US" sz="1600" dirty="0"/>
          </a:p>
          <a:p>
            <a:pPr marL="0" indent="0">
              <a:spcAft>
                <a:spcPts val="300"/>
              </a:spcAft>
              <a:buNone/>
            </a:pPr>
            <a:r>
              <a:rPr lang="en-US" sz="600" dirty="0">
                <a:solidFill>
                  <a:srgbClr val="1A1A1A"/>
                </a:solidFill>
                <a:latin typeface="Times New Roman" pitchFamily="34" charset="0"/>
                <a:ea typeface="Times New Roman" pitchFamily="34" charset="-122"/>
                <a:cs typeface="Times New Roman" pitchFamily="34" charset="-120"/>
              </a:rPr>
              <a:t> </a:t>
            </a:r>
            <a:endParaRPr lang="en-US" sz="1600" dirty="0"/>
          </a:p>
          <a:p>
            <a:pPr marL="0" indent="0">
              <a:spcAft>
                <a:spcPts val="300"/>
              </a:spcAft>
              <a:buNone/>
            </a:pPr>
            <a:r>
              <a:rPr lang="en-US" sz="1900" b="1" dirty="0">
                <a:solidFill>
                  <a:srgbClr val="1F4E79"/>
                </a:solidFill>
                <a:latin typeface="Times New Roman" pitchFamily="34" charset="0"/>
                <a:ea typeface="Times New Roman" pitchFamily="34" charset="-122"/>
                <a:cs typeface="Times New Roman" pitchFamily="34" charset="-120"/>
              </a:rPr>
              <a:t>Detection Categories</a:t>
            </a:r>
            <a:endParaRPr lang="en-US" sz="1600" dirty="0"/>
          </a:p>
          <a:p>
            <a:pPr marL="342900" indent="-342900">
              <a:spcAft>
                <a:spcPts val="300"/>
              </a:spcAft>
              <a:buSzPct val="100000"/>
              <a:buChar char="•"/>
            </a:pPr>
            <a:r>
              <a:rPr lang="en-US" sz="1600" dirty="0">
                <a:solidFill>
                  <a:srgbClr val="1A1A1A"/>
                </a:solidFill>
                <a:latin typeface="Times New Roman" pitchFamily="34" charset="0"/>
                <a:ea typeface="Times New Roman" pitchFamily="34" charset="-122"/>
                <a:cs typeface="Times New Roman" pitchFamily="34" charset="-120"/>
              </a:rPr>
              <a:t>Repeated failed logins and suspicious login sequences</a:t>
            </a:r>
            <a:endParaRPr lang="en-US" sz="1600" dirty="0"/>
          </a:p>
          <a:p>
            <a:pPr marL="342900" indent="-342900">
              <a:spcAft>
                <a:spcPts val="300"/>
              </a:spcAft>
              <a:buSzPct val="100000"/>
              <a:buChar char="•"/>
            </a:pPr>
            <a:r>
              <a:rPr lang="en-US" sz="1600" dirty="0">
                <a:solidFill>
                  <a:srgbClr val="1A1A1A"/>
                </a:solidFill>
                <a:latin typeface="Times New Roman" pitchFamily="34" charset="0"/>
                <a:ea typeface="Times New Roman" pitchFamily="34" charset="-122"/>
                <a:cs typeface="Times New Roman" pitchFamily="34" charset="-120"/>
              </a:rPr>
              <a:t>Unauthorized access attempts and unusual attendance edits</a:t>
            </a:r>
            <a:endParaRPr lang="en-US" sz="1600" dirty="0"/>
          </a:p>
          <a:p>
            <a:pPr marL="342900" indent="-342900">
              <a:spcAft>
                <a:spcPts val="300"/>
              </a:spcAft>
              <a:buSzPct val="100000"/>
              <a:buChar char="•"/>
            </a:pPr>
            <a:r>
              <a:rPr lang="en-US" sz="1600" dirty="0">
                <a:solidFill>
                  <a:srgbClr val="1A1A1A"/>
                </a:solidFill>
                <a:latin typeface="Times New Roman" pitchFamily="34" charset="0"/>
                <a:ea typeface="Times New Roman" pitchFamily="34" charset="-122"/>
                <a:cs typeface="Times New Roman" pitchFamily="34" charset="-120"/>
              </a:rPr>
              <a:t>Request flooding, endpoint probing, injection indicators</a:t>
            </a:r>
            <a:endParaRPr lang="en-US" sz="1600" dirty="0"/>
          </a:p>
          <a:p>
            <a:pPr marL="0" indent="0">
              <a:spcAft>
                <a:spcPts val="300"/>
              </a:spcAft>
              <a:buNone/>
            </a:pPr>
            <a:r>
              <a:rPr lang="en-US" sz="600" dirty="0">
                <a:solidFill>
                  <a:srgbClr val="1A1A1A"/>
                </a:solidFill>
                <a:latin typeface="Times New Roman" pitchFamily="34" charset="0"/>
                <a:ea typeface="Times New Roman" pitchFamily="34" charset="-122"/>
                <a:cs typeface="Times New Roman" pitchFamily="34" charset="-120"/>
              </a:rPr>
              <a:t> </a:t>
            </a:r>
            <a:endParaRPr lang="en-US" sz="1600" dirty="0"/>
          </a:p>
          <a:p>
            <a:pPr marL="0" indent="0">
              <a:spcAft>
                <a:spcPts val="300"/>
              </a:spcAft>
              <a:buNone/>
            </a:pPr>
            <a:r>
              <a:rPr lang="en-US" sz="1900" b="1" dirty="0">
                <a:solidFill>
                  <a:srgbClr val="1F4E79"/>
                </a:solidFill>
                <a:latin typeface="Times New Roman" pitchFamily="34" charset="0"/>
                <a:ea typeface="Times New Roman" pitchFamily="34" charset="-122"/>
                <a:cs typeface="Times New Roman" pitchFamily="34" charset="-120"/>
              </a:rPr>
              <a:t>Privacy and Security</a:t>
            </a:r>
            <a:endParaRPr lang="en-US" sz="1600" dirty="0"/>
          </a:p>
          <a:p>
            <a:pPr marL="342900" indent="-342900">
              <a:spcAft>
                <a:spcPts val="300"/>
              </a:spcAft>
              <a:buSzPct val="100000"/>
              <a:buChar char="•"/>
            </a:pPr>
            <a:r>
              <a:rPr lang="en-US" sz="1600" dirty="0">
                <a:solidFill>
                  <a:srgbClr val="1A1A1A"/>
                </a:solidFill>
                <a:latin typeface="Times New Roman" pitchFamily="34" charset="0"/>
                <a:ea typeface="Times New Roman" pitchFamily="34" charset="-122"/>
                <a:cs typeface="Times New Roman" pitchFamily="34" charset="-120"/>
              </a:rPr>
              <a:t>Logs must not store passwords, tokens, or unnecessary personal data</a:t>
            </a:r>
            <a:endParaRPr lang="en-US" sz="1600" dirty="0"/>
          </a:p>
          <a:p>
            <a:pPr marL="342900" indent="-342900">
              <a:spcAft>
                <a:spcPts val="300"/>
              </a:spcAft>
              <a:buSzPct val="100000"/>
              <a:buChar char="•"/>
            </a:pPr>
            <a:r>
              <a:rPr lang="en-US" sz="1600" dirty="0">
                <a:solidFill>
                  <a:srgbClr val="1A1A1A"/>
                </a:solidFill>
                <a:latin typeface="Times New Roman" pitchFamily="34" charset="0"/>
                <a:ea typeface="Times New Roman" pitchFamily="34" charset="-122"/>
                <a:cs typeface="Times New Roman" pitchFamily="34" charset="-120"/>
              </a:rPr>
              <a:t>Input validation, request-size limits, and least-privilege database access</a:t>
            </a:r>
            <a:endParaRPr lang="en-US" sz="1600" dirty="0"/>
          </a:p>
          <a:p>
            <a:pPr marL="0" indent="0">
              <a:spcAft>
                <a:spcPts val="300"/>
              </a:spcAft>
              <a:buNone/>
            </a:pPr>
            <a:r>
              <a:rPr lang="en-US" sz="600" dirty="0">
                <a:solidFill>
                  <a:srgbClr val="1A1A1A"/>
                </a:solidFill>
                <a:latin typeface="Times New Roman" pitchFamily="34" charset="0"/>
                <a:ea typeface="Times New Roman" pitchFamily="34" charset="-122"/>
                <a:cs typeface="Times New Roman" pitchFamily="34" charset="-120"/>
              </a:rPr>
              <a:t> </a:t>
            </a:r>
            <a:endParaRPr lang="en-US" sz="1600" dirty="0"/>
          </a:p>
          <a:p>
            <a:pPr marL="0" indent="0">
              <a:spcAft>
                <a:spcPts val="300"/>
              </a:spcAft>
              <a:buNone/>
            </a:pPr>
            <a:r>
              <a:rPr lang="en-US" sz="1600" b="1" dirty="0">
                <a:solidFill>
                  <a:srgbClr val="1F4E79"/>
                </a:solidFill>
                <a:latin typeface="Times New Roman" pitchFamily="34" charset="0"/>
                <a:ea typeface="Times New Roman" pitchFamily="34" charset="-122"/>
                <a:cs typeface="Times New Roman" pitchFamily="34" charset="-120"/>
              </a:rPr>
              <a:t>Note: </a:t>
            </a:r>
            <a:r>
              <a:rPr lang="en-US" sz="1600" dirty="0">
                <a:solidFill>
                  <a:srgbClr val="1A1A1A"/>
                </a:solidFill>
                <a:latin typeface="Times New Roman" pitchFamily="34" charset="0"/>
                <a:ea typeface="Times New Roman" pitchFamily="34" charset="-122"/>
                <a:cs typeface="Times New Roman" pitchFamily="34" charset="-120"/>
              </a:rPr>
              <a:t>The prototype uses synthetic JSON logs; portal integration is planned.</a:t>
            </a:r>
            <a:endParaRPr lang="en-US" sz="1600" dirty="0"/>
          </a:p>
        </p:txBody>
      </p:sp>
      <p:sp>
        <p:nvSpPr>
          <p:cNvPr id="12" name="Text 9"/>
          <p:cNvSpPr txBox="1"/>
          <p:nvPr/>
        </p:nvSpPr>
        <p:spPr>
          <a:xfrm>
            <a:off x="7406640" y="1188720"/>
            <a:ext cx="4023360" cy="365760"/>
          </a:xfrm>
          <a:prstGeom prst="rect">
            <a:avLst/>
          </a:prstGeom>
          <a:noFill/>
          <a:ln/>
        </p:spPr>
        <p:txBody>
          <a:bodyPr wrap="square" lIns="0" tIns="0" rIns="0" bIns="0" rtlCol="0" anchor="t"/>
          <a:lstStyle/>
          <a:p>
            <a:pPr marL="0" indent="0" algn="ctr">
              <a:buNone/>
            </a:pPr>
            <a:r>
              <a:rPr lang="en-US" sz="2000" b="1" dirty="0">
                <a:solidFill>
                  <a:srgbClr val="1F4E79"/>
                </a:solidFill>
                <a:latin typeface="Times New Roman" pitchFamily="34" charset="0"/>
                <a:ea typeface="Times New Roman" pitchFamily="34" charset="-122"/>
                <a:cs typeface="Times New Roman" pitchFamily="34" charset="-120"/>
              </a:rPr>
              <a:t>Process Flow</a:t>
            </a:r>
            <a:endParaRPr lang="en-US" sz="2000" dirty="0"/>
          </a:p>
        </p:txBody>
      </p:sp>
      <p:sp>
        <p:nvSpPr>
          <p:cNvPr id="13" name="Shape 10"/>
          <p:cNvSpPr/>
          <p:nvPr/>
        </p:nvSpPr>
        <p:spPr>
          <a:xfrm>
            <a:off x="7406640" y="1691640"/>
            <a:ext cx="4023360" cy="749808"/>
          </a:xfrm>
          <a:prstGeom prst="roundRect">
            <a:avLst>
              <a:gd name="adj" fmla="val 9756"/>
            </a:avLst>
          </a:prstGeom>
          <a:solidFill>
            <a:srgbClr val="EAF1F8"/>
          </a:solidFill>
          <a:ln w="12700">
            <a:solidFill>
              <a:srgbClr val="9DB7D1"/>
            </a:solidFill>
            <a:prstDash val="solid"/>
          </a:ln>
        </p:spPr>
      </p:sp>
      <p:sp>
        <p:nvSpPr>
          <p:cNvPr id="14" name="Shape 11"/>
          <p:cNvSpPr/>
          <p:nvPr/>
        </p:nvSpPr>
        <p:spPr>
          <a:xfrm>
            <a:off x="7543800" y="1837944"/>
            <a:ext cx="457200" cy="457200"/>
          </a:xfrm>
          <a:prstGeom prst="ellipse">
            <a:avLst/>
          </a:prstGeom>
          <a:solidFill>
            <a:srgbClr val="1F4E79"/>
          </a:solidFill>
          <a:ln w="12700">
            <a:solidFill>
              <a:srgbClr val="1F4E79"/>
            </a:solidFill>
            <a:prstDash val="solid"/>
          </a:ln>
        </p:spPr>
      </p:sp>
      <p:sp>
        <p:nvSpPr>
          <p:cNvPr id="15" name="Text 12"/>
          <p:cNvSpPr txBox="1"/>
          <p:nvPr/>
        </p:nvSpPr>
        <p:spPr>
          <a:xfrm>
            <a:off x="7543800" y="1837944"/>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Times New Roman" pitchFamily="34" charset="0"/>
                <a:ea typeface="Times New Roman" pitchFamily="34" charset="-122"/>
                <a:cs typeface="Times New Roman" pitchFamily="34" charset="-120"/>
              </a:rPr>
              <a:t>1</a:t>
            </a:r>
            <a:endParaRPr lang="en-US" sz="1600" dirty="0"/>
          </a:p>
        </p:txBody>
      </p:sp>
      <p:sp>
        <p:nvSpPr>
          <p:cNvPr id="16" name="Text 13"/>
          <p:cNvSpPr txBox="1"/>
          <p:nvPr/>
        </p:nvSpPr>
        <p:spPr>
          <a:xfrm>
            <a:off x="8138160" y="1691640"/>
            <a:ext cx="3200400" cy="749808"/>
          </a:xfrm>
          <a:prstGeom prst="rect">
            <a:avLst/>
          </a:prstGeom>
          <a:noFill/>
          <a:ln/>
        </p:spPr>
        <p:txBody>
          <a:bodyPr wrap="square" lIns="0" tIns="0" rIns="0" bIns="0" rtlCol="0" anchor="ctr"/>
          <a:lstStyle/>
          <a:p>
            <a:pPr marL="0" indent="0">
              <a:buNone/>
            </a:pPr>
            <a:r>
              <a:rPr lang="en-US" sz="1500" b="1" dirty="0">
                <a:solidFill>
                  <a:srgbClr val="1F4E79"/>
                </a:solidFill>
                <a:latin typeface="Times New Roman" pitchFamily="34" charset="0"/>
                <a:ea typeface="Times New Roman" pitchFamily="34" charset="-122"/>
                <a:cs typeface="Times New Roman" pitchFamily="34" charset="-120"/>
              </a:rPr>
              <a:t>Import Logs</a:t>
            </a:r>
            <a:endParaRPr lang="en-US" sz="1600" dirty="0"/>
          </a:p>
          <a:p>
            <a:pPr marL="0" indent="0">
              <a:buNone/>
            </a:pPr>
            <a:r>
              <a:rPr lang="en-US" sz="1200" dirty="0">
                <a:solidFill>
                  <a:srgbClr val="475569"/>
                </a:solidFill>
                <a:latin typeface="Times New Roman" pitchFamily="34" charset="0"/>
                <a:ea typeface="Times New Roman" pitchFamily="34" charset="-122"/>
                <a:cs typeface="Times New Roman" pitchFamily="34" charset="-120"/>
              </a:rPr>
              <a:t>Structured JSON file or ingestion API</a:t>
            </a:r>
            <a:endParaRPr lang="en-US" sz="1600" dirty="0"/>
          </a:p>
        </p:txBody>
      </p:sp>
      <p:sp>
        <p:nvSpPr>
          <p:cNvPr id="17" name="Shape 14"/>
          <p:cNvSpPr/>
          <p:nvPr/>
        </p:nvSpPr>
        <p:spPr>
          <a:xfrm>
            <a:off x="7406640" y="2606040"/>
            <a:ext cx="4023360" cy="749808"/>
          </a:xfrm>
          <a:prstGeom prst="roundRect">
            <a:avLst>
              <a:gd name="adj" fmla="val 9756"/>
            </a:avLst>
          </a:prstGeom>
          <a:solidFill>
            <a:srgbClr val="EAF1F8"/>
          </a:solidFill>
          <a:ln w="12700">
            <a:solidFill>
              <a:srgbClr val="9DB7D1"/>
            </a:solidFill>
            <a:prstDash val="solid"/>
          </a:ln>
        </p:spPr>
      </p:sp>
      <p:sp>
        <p:nvSpPr>
          <p:cNvPr id="18" name="Shape 15"/>
          <p:cNvSpPr/>
          <p:nvPr/>
        </p:nvSpPr>
        <p:spPr>
          <a:xfrm>
            <a:off x="7543800" y="2752344"/>
            <a:ext cx="457200" cy="457200"/>
          </a:xfrm>
          <a:prstGeom prst="ellipse">
            <a:avLst/>
          </a:prstGeom>
          <a:solidFill>
            <a:srgbClr val="1F4E79"/>
          </a:solidFill>
          <a:ln w="12700">
            <a:solidFill>
              <a:srgbClr val="1F4E79"/>
            </a:solidFill>
            <a:prstDash val="solid"/>
          </a:ln>
        </p:spPr>
      </p:sp>
      <p:sp>
        <p:nvSpPr>
          <p:cNvPr id="19" name="Text 16"/>
          <p:cNvSpPr txBox="1"/>
          <p:nvPr/>
        </p:nvSpPr>
        <p:spPr>
          <a:xfrm>
            <a:off x="7543800" y="2752344"/>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Times New Roman" pitchFamily="34" charset="0"/>
                <a:ea typeface="Times New Roman" pitchFamily="34" charset="-122"/>
                <a:cs typeface="Times New Roman" pitchFamily="34" charset="-120"/>
              </a:rPr>
              <a:t>2</a:t>
            </a:r>
            <a:endParaRPr lang="en-US" sz="1600" dirty="0"/>
          </a:p>
        </p:txBody>
      </p:sp>
      <p:sp>
        <p:nvSpPr>
          <p:cNvPr id="20" name="Text 17"/>
          <p:cNvSpPr txBox="1"/>
          <p:nvPr/>
        </p:nvSpPr>
        <p:spPr>
          <a:xfrm>
            <a:off x="8138160" y="2606040"/>
            <a:ext cx="3200400" cy="749808"/>
          </a:xfrm>
          <a:prstGeom prst="rect">
            <a:avLst/>
          </a:prstGeom>
          <a:noFill/>
          <a:ln/>
        </p:spPr>
        <p:txBody>
          <a:bodyPr wrap="square" lIns="0" tIns="0" rIns="0" bIns="0" rtlCol="0" anchor="ctr"/>
          <a:lstStyle/>
          <a:p>
            <a:pPr marL="0" indent="0">
              <a:buNone/>
            </a:pPr>
            <a:r>
              <a:rPr lang="en-US" sz="1500" b="1" dirty="0">
                <a:solidFill>
                  <a:srgbClr val="1F4E79"/>
                </a:solidFill>
                <a:latin typeface="Times New Roman" pitchFamily="34" charset="0"/>
                <a:ea typeface="Times New Roman" pitchFamily="34" charset="-122"/>
                <a:cs typeface="Times New Roman" pitchFamily="34" charset="-120"/>
              </a:rPr>
              <a:t>Validate and Normalize</a:t>
            </a:r>
            <a:endParaRPr lang="en-US" sz="1600" dirty="0"/>
          </a:p>
          <a:p>
            <a:pPr marL="0" indent="0">
              <a:buNone/>
            </a:pPr>
            <a:r>
              <a:rPr lang="en-US" sz="1200" dirty="0">
                <a:solidFill>
                  <a:srgbClr val="475569"/>
                </a:solidFill>
                <a:latin typeface="Times New Roman" pitchFamily="34" charset="0"/>
                <a:ea typeface="Times New Roman" pitchFamily="34" charset="-122"/>
                <a:cs typeface="Times New Roman" pitchFamily="34" charset="-120"/>
              </a:rPr>
              <a:t>Check fields and redact sensitive data</a:t>
            </a:r>
            <a:endParaRPr lang="en-US" sz="1600" dirty="0"/>
          </a:p>
        </p:txBody>
      </p:sp>
      <p:sp>
        <p:nvSpPr>
          <p:cNvPr id="21" name="Shape 18"/>
          <p:cNvSpPr/>
          <p:nvPr/>
        </p:nvSpPr>
        <p:spPr>
          <a:xfrm>
            <a:off x="7406640" y="3520440"/>
            <a:ext cx="4023360" cy="749808"/>
          </a:xfrm>
          <a:prstGeom prst="roundRect">
            <a:avLst>
              <a:gd name="adj" fmla="val 9756"/>
            </a:avLst>
          </a:prstGeom>
          <a:solidFill>
            <a:srgbClr val="EAF1F8"/>
          </a:solidFill>
          <a:ln w="12700">
            <a:solidFill>
              <a:srgbClr val="9DB7D1"/>
            </a:solidFill>
            <a:prstDash val="solid"/>
          </a:ln>
        </p:spPr>
      </p:sp>
      <p:sp>
        <p:nvSpPr>
          <p:cNvPr id="22" name="Shape 19"/>
          <p:cNvSpPr/>
          <p:nvPr/>
        </p:nvSpPr>
        <p:spPr>
          <a:xfrm>
            <a:off x="7543800" y="3666744"/>
            <a:ext cx="457200" cy="457200"/>
          </a:xfrm>
          <a:prstGeom prst="ellipse">
            <a:avLst/>
          </a:prstGeom>
          <a:solidFill>
            <a:srgbClr val="1F4E79"/>
          </a:solidFill>
          <a:ln w="12700">
            <a:solidFill>
              <a:srgbClr val="1F4E79"/>
            </a:solidFill>
            <a:prstDash val="solid"/>
          </a:ln>
        </p:spPr>
      </p:sp>
      <p:sp>
        <p:nvSpPr>
          <p:cNvPr id="23" name="Text 20"/>
          <p:cNvSpPr txBox="1"/>
          <p:nvPr/>
        </p:nvSpPr>
        <p:spPr>
          <a:xfrm>
            <a:off x="7543800" y="3666744"/>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Times New Roman" pitchFamily="34" charset="0"/>
                <a:ea typeface="Times New Roman" pitchFamily="34" charset="-122"/>
                <a:cs typeface="Times New Roman" pitchFamily="34" charset="-120"/>
              </a:rPr>
              <a:t>3</a:t>
            </a:r>
            <a:endParaRPr lang="en-US" sz="1600" dirty="0"/>
          </a:p>
        </p:txBody>
      </p:sp>
      <p:sp>
        <p:nvSpPr>
          <p:cNvPr id="24" name="Text 21"/>
          <p:cNvSpPr txBox="1"/>
          <p:nvPr/>
        </p:nvSpPr>
        <p:spPr>
          <a:xfrm>
            <a:off x="8138160" y="3520440"/>
            <a:ext cx="3200400" cy="749808"/>
          </a:xfrm>
          <a:prstGeom prst="rect">
            <a:avLst/>
          </a:prstGeom>
          <a:noFill/>
          <a:ln/>
        </p:spPr>
        <p:txBody>
          <a:bodyPr wrap="square" lIns="0" tIns="0" rIns="0" bIns="0" rtlCol="0" anchor="ctr"/>
          <a:lstStyle/>
          <a:p>
            <a:pPr marL="0" indent="0">
              <a:buNone/>
            </a:pPr>
            <a:r>
              <a:rPr lang="en-US" sz="1500" b="1" dirty="0">
                <a:solidFill>
                  <a:srgbClr val="1F4E79"/>
                </a:solidFill>
                <a:latin typeface="Times New Roman" pitchFamily="34" charset="0"/>
                <a:ea typeface="Times New Roman" pitchFamily="34" charset="-122"/>
                <a:cs typeface="Times New Roman" pitchFamily="34" charset="-120"/>
              </a:rPr>
              <a:t>Apply Detection Rules</a:t>
            </a:r>
            <a:endParaRPr lang="en-US" sz="1600" dirty="0"/>
          </a:p>
          <a:p>
            <a:pPr marL="0" indent="0">
              <a:buNone/>
            </a:pPr>
            <a:r>
              <a:rPr lang="en-US" sz="1200" dirty="0">
                <a:solidFill>
                  <a:srgbClr val="475569"/>
                </a:solidFill>
                <a:latin typeface="Times New Roman" pitchFamily="34" charset="0"/>
                <a:ea typeface="Times New Roman" pitchFamily="34" charset="-122"/>
                <a:cs typeface="Times New Roman" pitchFamily="34" charset="-120"/>
              </a:rPr>
              <a:t>Configurable thresholds and time windows</a:t>
            </a:r>
            <a:endParaRPr lang="en-US" sz="1600" dirty="0"/>
          </a:p>
        </p:txBody>
      </p:sp>
      <p:sp>
        <p:nvSpPr>
          <p:cNvPr id="25" name="Shape 22"/>
          <p:cNvSpPr/>
          <p:nvPr/>
        </p:nvSpPr>
        <p:spPr>
          <a:xfrm>
            <a:off x="7406640" y="4434840"/>
            <a:ext cx="4023360" cy="749808"/>
          </a:xfrm>
          <a:prstGeom prst="roundRect">
            <a:avLst>
              <a:gd name="adj" fmla="val 9756"/>
            </a:avLst>
          </a:prstGeom>
          <a:solidFill>
            <a:srgbClr val="EAF1F8"/>
          </a:solidFill>
          <a:ln w="12700">
            <a:solidFill>
              <a:srgbClr val="9DB7D1"/>
            </a:solidFill>
            <a:prstDash val="solid"/>
          </a:ln>
        </p:spPr>
      </p:sp>
      <p:sp>
        <p:nvSpPr>
          <p:cNvPr id="26" name="Shape 23"/>
          <p:cNvSpPr/>
          <p:nvPr/>
        </p:nvSpPr>
        <p:spPr>
          <a:xfrm>
            <a:off x="7543800" y="4581144"/>
            <a:ext cx="457200" cy="457200"/>
          </a:xfrm>
          <a:prstGeom prst="ellipse">
            <a:avLst/>
          </a:prstGeom>
          <a:solidFill>
            <a:srgbClr val="1F4E79"/>
          </a:solidFill>
          <a:ln w="12700">
            <a:solidFill>
              <a:srgbClr val="1F4E79"/>
            </a:solidFill>
            <a:prstDash val="solid"/>
          </a:ln>
        </p:spPr>
      </p:sp>
      <p:sp>
        <p:nvSpPr>
          <p:cNvPr id="27" name="Text 24"/>
          <p:cNvSpPr txBox="1"/>
          <p:nvPr/>
        </p:nvSpPr>
        <p:spPr>
          <a:xfrm>
            <a:off x="7543800" y="4581144"/>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Times New Roman" pitchFamily="34" charset="0"/>
                <a:ea typeface="Times New Roman" pitchFamily="34" charset="-122"/>
                <a:cs typeface="Times New Roman" pitchFamily="34" charset="-120"/>
              </a:rPr>
              <a:t>4</a:t>
            </a:r>
            <a:endParaRPr lang="en-US" sz="1600" dirty="0"/>
          </a:p>
        </p:txBody>
      </p:sp>
      <p:sp>
        <p:nvSpPr>
          <p:cNvPr id="28" name="Text 25"/>
          <p:cNvSpPr txBox="1"/>
          <p:nvPr/>
        </p:nvSpPr>
        <p:spPr>
          <a:xfrm>
            <a:off x="8138160" y="4434840"/>
            <a:ext cx="3200400" cy="749808"/>
          </a:xfrm>
          <a:prstGeom prst="rect">
            <a:avLst/>
          </a:prstGeom>
          <a:noFill/>
          <a:ln/>
        </p:spPr>
        <p:txBody>
          <a:bodyPr wrap="square" lIns="0" tIns="0" rIns="0" bIns="0" rtlCol="0" anchor="ctr"/>
          <a:lstStyle/>
          <a:p>
            <a:pPr marL="0" indent="0">
              <a:buNone/>
            </a:pPr>
            <a:r>
              <a:rPr lang="en-US" sz="1500" b="1" dirty="0">
                <a:solidFill>
                  <a:srgbClr val="1F4E79"/>
                </a:solidFill>
                <a:latin typeface="Times New Roman" pitchFamily="34" charset="0"/>
                <a:ea typeface="Times New Roman" pitchFamily="34" charset="-122"/>
                <a:cs typeface="Times New Roman" pitchFamily="34" charset="-120"/>
              </a:rPr>
              <a:t>Generate Alerts</a:t>
            </a:r>
            <a:endParaRPr lang="en-US" sz="1600" dirty="0"/>
          </a:p>
          <a:p>
            <a:pPr marL="0" indent="0">
              <a:buNone/>
            </a:pPr>
            <a:r>
              <a:rPr lang="en-US" sz="1200" dirty="0">
                <a:solidFill>
                  <a:srgbClr val="475569"/>
                </a:solidFill>
                <a:latin typeface="Times New Roman" pitchFamily="34" charset="0"/>
                <a:ea typeface="Times New Roman" pitchFamily="34" charset="-122"/>
                <a:cs typeface="Times New Roman" pitchFamily="34" charset="-120"/>
              </a:rPr>
              <a:t>Evidence, severity, and risk score</a:t>
            </a:r>
            <a:endParaRPr lang="en-US" sz="1600" dirty="0"/>
          </a:p>
        </p:txBody>
      </p:sp>
      <p:sp>
        <p:nvSpPr>
          <p:cNvPr id="29" name="Shape 26"/>
          <p:cNvSpPr/>
          <p:nvPr/>
        </p:nvSpPr>
        <p:spPr>
          <a:xfrm>
            <a:off x="7406640" y="5349240"/>
            <a:ext cx="4023360" cy="749808"/>
          </a:xfrm>
          <a:prstGeom prst="roundRect">
            <a:avLst>
              <a:gd name="adj" fmla="val 9756"/>
            </a:avLst>
          </a:prstGeom>
          <a:solidFill>
            <a:srgbClr val="EAF1F8"/>
          </a:solidFill>
          <a:ln w="12700">
            <a:solidFill>
              <a:srgbClr val="9DB7D1"/>
            </a:solidFill>
            <a:prstDash val="solid"/>
          </a:ln>
        </p:spPr>
      </p:sp>
      <p:sp>
        <p:nvSpPr>
          <p:cNvPr id="30" name="Shape 27"/>
          <p:cNvSpPr/>
          <p:nvPr/>
        </p:nvSpPr>
        <p:spPr>
          <a:xfrm>
            <a:off x="7543800" y="5495544"/>
            <a:ext cx="457200" cy="457200"/>
          </a:xfrm>
          <a:prstGeom prst="ellipse">
            <a:avLst/>
          </a:prstGeom>
          <a:solidFill>
            <a:srgbClr val="1F4E79"/>
          </a:solidFill>
          <a:ln w="12700">
            <a:solidFill>
              <a:srgbClr val="1F4E79"/>
            </a:solidFill>
            <a:prstDash val="solid"/>
          </a:ln>
        </p:spPr>
      </p:sp>
      <p:sp>
        <p:nvSpPr>
          <p:cNvPr id="31" name="Text 28"/>
          <p:cNvSpPr txBox="1"/>
          <p:nvPr/>
        </p:nvSpPr>
        <p:spPr>
          <a:xfrm>
            <a:off x="7543800" y="5495544"/>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Times New Roman" pitchFamily="34" charset="0"/>
                <a:ea typeface="Times New Roman" pitchFamily="34" charset="-122"/>
                <a:cs typeface="Times New Roman" pitchFamily="34" charset="-120"/>
              </a:rPr>
              <a:t>5</a:t>
            </a:r>
            <a:endParaRPr lang="en-US" sz="1600" dirty="0"/>
          </a:p>
        </p:txBody>
      </p:sp>
      <p:sp>
        <p:nvSpPr>
          <p:cNvPr id="32" name="Text 29"/>
          <p:cNvSpPr txBox="1"/>
          <p:nvPr/>
        </p:nvSpPr>
        <p:spPr>
          <a:xfrm>
            <a:off x="8138160" y="5349240"/>
            <a:ext cx="3200400" cy="749808"/>
          </a:xfrm>
          <a:prstGeom prst="rect">
            <a:avLst/>
          </a:prstGeom>
          <a:noFill/>
          <a:ln/>
        </p:spPr>
        <p:txBody>
          <a:bodyPr wrap="square" lIns="0" tIns="0" rIns="0" bIns="0" rtlCol="0" anchor="ctr"/>
          <a:lstStyle/>
          <a:p>
            <a:pPr marL="0" indent="0">
              <a:buNone/>
            </a:pPr>
            <a:r>
              <a:rPr lang="en-US" sz="1500" b="1" dirty="0">
                <a:solidFill>
                  <a:srgbClr val="1F4E79"/>
                </a:solidFill>
                <a:latin typeface="Times New Roman" pitchFamily="34" charset="0"/>
                <a:ea typeface="Times New Roman" pitchFamily="34" charset="-122"/>
                <a:cs typeface="Times New Roman" pitchFamily="34" charset="-120"/>
              </a:rPr>
              <a:t>Investigate and Report</a:t>
            </a:r>
            <a:endParaRPr lang="en-US" sz="1600" dirty="0"/>
          </a:p>
          <a:p>
            <a:pPr marL="0" indent="0">
              <a:buNone/>
            </a:pPr>
            <a:r>
              <a:rPr lang="en-US" sz="1200" dirty="0">
                <a:solidFill>
                  <a:srgbClr val="475569"/>
                </a:solidFill>
                <a:latin typeface="Times New Roman" pitchFamily="34" charset="0"/>
                <a:ea typeface="Times New Roman" pitchFamily="34" charset="-122"/>
                <a:cs typeface="Times New Roman" pitchFamily="34" charset="-120"/>
              </a:rPr>
              <a:t>Search, incidents, and CSV export</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1480" y="262890"/>
            <a:ext cx="416052" cy="416052"/>
          </a:xfrm>
          <a:prstGeom prst="ellipse">
            <a:avLst/>
          </a:prstGeom>
          <a:solidFill>
            <a:srgbClr val="1F4E79">
              <a:alpha val="65000"/>
            </a:srgbClr>
          </a:solidFill>
          <a:ln w="12700">
            <a:solidFill>
              <a:srgbClr val="FFFFFF"/>
            </a:solidFill>
            <a:prstDash val="solid"/>
          </a:ln>
        </p:spPr>
      </p:sp>
      <p:sp>
        <p:nvSpPr>
          <p:cNvPr id="3" name="Shape 1"/>
          <p:cNvSpPr/>
          <p:nvPr/>
        </p:nvSpPr>
        <p:spPr>
          <a:xfrm>
            <a:off x="587502" y="262890"/>
            <a:ext cx="416052" cy="416052"/>
          </a:xfrm>
          <a:prstGeom prst="ellipse">
            <a:avLst/>
          </a:prstGeom>
          <a:solidFill>
            <a:srgbClr val="0D9488">
              <a:alpha val="65000"/>
            </a:srgbClr>
          </a:solidFill>
          <a:ln w="12700">
            <a:solidFill>
              <a:srgbClr val="FFFFFF"/>
            </a:solidFill>
            <a:prstDash val="solid"/>
          </a:ln>
        </p:spPr>
      </p:sp>
      <p:sp>
        <p:nvSpPr>
          <p:cNvPr id="4" name="Shape 2"/>
          <p:cNvSpPr/>
          <p:nvPr/>
        </p:nvSpPr>
        <p:spPr>
          <a:xfrm>
            <a:off x="763524" y="262890"/>
            <a:ext cx="416052" cy="416052"/>
          </a:xfrm>
          <a:prstGeom prst="ellipse">
            <a:avLst/>
          </a:prstGeom>
          <a:solidFill>
            <a:srgbClr val="2563EB">
              <a:alpha val="65000"/>
            </a:srgbClr>
          </a:solidFill>
          <a:ln w="12700">
            <a:solidFill>
              <a:srgbClr val="FFFFFF"/>
            </a:solidFill>
            <a:prstDash val="solid"/>
          </a:ln>
        </p:spPr>
      </p:sp>
      <p:sp>
        <p:nvSpPr>
          <p:cNvPr id="5" name="Text 3"/>
          <p:cNvSpPr txBox="1"/>
          <p:nvPr/>
        </p:nvSpPr>
        <p:spPr>
          <a:xfrm>
            <a:off x="1275588" y="230886"/>
            <a:ext cx="1280160" cy="360045"/>
          </a:xfrm>
          <a:prstGeom prst="rect">
            <a:avLst/>
          </a:prstGeom>
          <a:noFill/>
          <a:ln/>
        </p:spPr>
        <p:txBody>
          <a:bodyPr wrap="none" lIns="0" tIns="0" rIns="0" bIns="0" rtlCol="0" anchor="ctr"/>
          <a:lstStyle/>
          <a:p>
            <a:pPr marL="0" indent="0">
              <a:buNone/>
            </a:pPr>
            <a:r>
              <a:rPr lang="en-US" sz="1200" b="1" dirty="0">
                <a:solidFill>
                  <a:srgbClr val="1F4E79"/>
                </a:solidFill>
                <a:latin typeface="Arial" pitchFamily="34" charset="0"/>
                <a:ea typeface="Arial" pitchFamily="34" charset="-122"/>
                <a:cs typeface="Arial" pitchFamily="34" charset="-120"/>
              </a:rPr>
              <a:t>CONSENSUS</a:t>
            </a:r>
            <a:endParaRPr lang="en-US" sz="1200" dirty="0"/>
          </a:p>
        </p:txBody>
      </p:sp>
      <p:sp>
        <p:nvSpPr>
          <p:cNvPr id="6" name="Text 4"/>
          <p:cNvSpPr txBox="1"/>
          <p:nvPr/>
        </p:nvSpPr>
        <p:spPr>
          <a:xfrm>
            <a:off x="1275588" y="582930"/>
            <a:ext cx="1120140" cy="176022"/>
          </a:xfrm>
          <a:prstGeom prst="rect">
            <a:avLst/>
          </a:prstGeom>
          <a:noFill/>
          <a:ln/>
        </p:spPr>
        <p:txBody>
          <a:bodyPr wrap="square" lIns="0" tIns="0" rIns="0" bIns="0" rtlCol="0" anchor="ctr"/>
          <a:lstStyle/>
          <a:p>
            <a:pPr marL="0" indent="0">
              <a:buNone/>
            </a:pPr>
            <a:r>
              <a:rPr lang="en-US" sz="700" b="1" kern="0" spc="200" dirty="0">
                <a:solidFill>
                  <a:srgbClr val="0D9488"/>
                </a:solidFill>
                <a:latin typeface="Arial" pitchFamily="34" charset="0"/>
                <a:ea typeface="Arial" pitchFamily="34" charset="-122"/>
                <a:cs typeface="Arial" pitchFamily="34" charset="-120"/>
              </a:rPr>
              <a:t>TEAM KH001</a:t>
            </a:r>
            <a:endParaRPr lang="en-US" sz="700" dirty="0"/>
          </a:p>
        </p:txBody>
      </p:sp>
      <p:sp>
        <p:nvSpPr>
          <p:cNvPr id="7" name="Text 5"/>
          <p:cNvSpPr txBox="1"/>
          <p:nvPr/>
        </p:nvSpPr>
        <p:spPr>
          <a:xfrm>
            <a:off x="2560320" y="274320"/>
            <a:ext cx="7132320" cy="640080"/>
          </a:xfrm>
          <a:prstGeom prst="rect">
            <a:avLst/>
          </a:prstGeom>
          <a:noFill/>
          <a:ln/>
        </p:spPr>
        <p:txBody>
          <a:bodyPr wrap="square" lIns="0" tIns="0" rIns="0" bIns="0" rtlCol="0" anchor="ctr"/>
          <a:lstStyle/>
          <a:p>
            <a:pPr marL="0" indent="0" algn="ctr">
              <a:buNone/>
            </a:pPr>
            <a:r>
              <a:rPr lang="en-US" sz="2800" b="1" dirty="0">
                <a:solidFill>
                  <a:srgbClr val="1F4E79"/>
                </a:solidFill>
                <a:latin typeface="Times New Roman" pitchFamily="34" charset="0"/>
                <a:ea typeface="Times New Roman" pitchFamily="34" charset="-122"/>
                <a:cs typeface="Times New Roman" pitchFamily="34" charset="-120"/>
              </a:rPr>
              <a:t>FEASIBILITY AND VIABILITY</a:t>
            </a:r>
            <a:endParaRPr lang="en-US" sz="2800" dirty="0"/>
          </a:p>
        </p:txBody>
      </p:sp>
      <p:sp>
        <p:nvSpPr>
          <p:cNvPr id="8" name="Shape 6"/>
          <p:cNvSpPr/>
          <p:nvPr/>
        </p:nvSpPr>
        <p:spPr>
          <a:xfrm>
            <a:off x="502920" y="1024128"/>
            <a:ext cx="11183112" cy="0"/>
          </a:xfrm>
          <a:prstGeom prst="line">
            <a:avLst/>
          </a:prstGeom>
          <a:noFill/>
          <a:ln w="15875">
            <a:solidFill>
              <a:srgbClr val="1F4E79"/>
            </a:solidFill>
            <a:prstDash val="solid"/>
          </a:ln>
        </p:spPr>
      </p:sp>
      <p:sp>
        <p:nvSpPr>
          <p:cNvPr id="9" name="Text 7"/>
          <p:cNvSpPr txBox="1"/>
          <p:nvPr/>
        </p:nvSpPr>
        <p:spPr>
          <a:xfrm>
            <a:off x="11228832" y="6446520"/>
            <a:ext cx="457200" cy="274320"/>
          </a:xfrm>
          <a:prstGeom prst="rect">
            <a:avLst/>
          </a:prstGeom>
          <a:noFill/>
          <a:ln/>
        </p:spPr>
        <p:txBody>
          <a:bodyPr wrap="square" lIns="0" tIns="0" rIns="0" bIns="0" rtlCol="0" anchor="t"/>
          <a:lstStyle/>
          <a:p>
            <a:pPr marL="0" indent="0" algn="r">
              <a:buNone/>
            </a:pPr>
            <a:r>
              <a:rPr lang="en-US" sz="1200" dirty="0">
                <a:solidFill>
                  <a:srgbClr val="475569"/>
                </a:solidFill>
                <a:latin typeface="Times New Roman" pitchFamily="34" charset="0"/>
                <a:ea typeface="Times New Roman" pitchFamily="34" charset="-122"/>
                <a:cs typeface="Times New Roman" pitchFamily="34" charset="-120"/>
              </a:rPr>
              <a:t>4</a:t>
            </a:r>
            <a:endParaRPr lang="en-US" sz="1200" dirty="0"/>
          </a:p>
        </p:txBody>
      </p:sp>
      <p:sp>
        <p:nvSpPr>
          <p:cNvPr id="11" name="Text 8"/>
          <p:cNvSpPr txBox="1"/>
          <p:nvPr/>
        </p:nvSpPr>
        <p:spPr>
          <a:xfrm>
            <a:off x="569639" y="1508760"/>
            <a:ext cx="6949440" cy="5212080"/>
          </a:xfrm>
          <a:prstGeom prst="rect">
            <a:avLst/>
          </a:prstGeom>
          <a:noFill/>
          <a:ln/>
        </p:spPr>
        <p:txBody>
          <a:bodyPr wrap="square" lIns="0" tIns="0" rIns="0" bIns="0" rtlCol="0" anchor="t"/>
          <a:lstStyle/>
          <a:p>
            <a:pPr marL="0" indent="0">
              <a:spcAft>
                <a:spcPts val="300"/>
              </a:spcAft>
              <a:buNone/>
            </a:pPr>
            <a:r>
              <a:rPr lang="en-US" sz="1900" b="1" dirty="0">
                <a:solidFill>
                  <a:srgbClr val="1F4E79"/>
                </a:solidFill>
                <a:latin typeface="Times New Roman" pitchFamily="34" charset="0"/>
                <a:ea typeface="Times New Roman" pitchFamily="34" charset="-122"/>
                <a:cs typeface="Times New Roman" pitchFamily="34" charset="-120"/>
              </a:rPr>
              <a:t>Feasibility</a:t>
            </a:r>
            <a:endParaRPr lang="en-US" sz="1900" dirty="0"/>
          </a:p>
          <a:p>
            <a:pPr marL="342900" indent="-342900">
              <a:spcAft>
                <a:spcPts val="300"/>
              </a:spcAft>
              <a:buSzPct val="100000"/>
              <a:buChar char="•"/>
            </a:pPr>
            <a:r>
              <a:rPr lang="en-US" sz="1900" dirty="0">
                <a:solidFill>
                  <a:srgbClr val="1A1A1A"/>
                </a:solidFill>
                <a:latin typeface="Times New Roman" pitchFamily="34" charset="0"/>
                <a:ea typeface="Times New Roman" pitchFamily="34" charset="-122"/>
                <a:cs typeface="Times New Roman" pitchFamily="34" charset="-120"/>
              </a:rPr>
              <a:t>Built on established, widely used web technologies.</a:t>
            </a:r>
            <a:endParaRPr lang="en-US" sz="1900" dirty="0"/>
          </a:p>
          <a:p>
            <a:pPr marL="342900" indent="-342900">
              <a:spcAft>
                <a:spcPts val="300"/>
              </a:spcAft>
              <a:buSzPct val="100000"/>
              <a:buChar char="•"/>
            </a:pPr>
            <a:r>
              <a:rPr lang="en-US" sz="1900" dirty="0">
                <a:solidFill>
                  <a:srgbClr val="1A1A1A"/>
                </a:solidFill>
                <a:latin typeface="Times New Roman" pitchFamily="34" charset="0"/>
                <a:ea typeface="Times New Roman" pitchFamily="34" charset="-122"/>
                <a:cs typeface="Times New Roman" pitchFamily="34" charset="-120"/>
              </a:rPr>
              <a:t>Frontend, backend, and database responsibilities are separated.</a:t>
            </a:r>
            <a:endParaRPr lang="en-US" sz="1900" dirty="0"/>
          </a:p>
          <a:p>
            <a:pPr marL="342900" indent="-342900">
              <a:spcAft>
                <a:spcPts val="300"/>
              </a:spcAft>
              <a:buSzPct val="100000"/>
              <a:buChar char="•"/>
            </a:pPr>
            <a:r>
              <a:rPr lang="en-US" sz="1900" dirty="0">
                <a:solidFill>
                  <a:srgbClr val="1A1A1A"/>
                </a:solidFill>
                <a:latin typeface="Times New Roman" pitchFamily="34" charset="0"/>
                <a:ea typeface="Times New Roman" pitchFamily="34" charset="-122"/>
                <a:cs typeface="Times New Roman" pitchFamily="34" charset="-120"/>
              </a:rPr>
              <a:t>Starts with synthetic logs, then moves to portal integration.</a:t>
            </a:r>
            <a:endParaRPr lang="en-US" sz="1900" dirty="0"/>
          </a:p>
          <a:p>
            <a:pPr marL="342900" indent="-342900">
              <a:spcAft>
                <a:spcPts val="300"/>
              </a:spcAft>
              <a:buSzPct val="100000"/>
              <a:buChar char="•"/>
            </a:pPr>
            <a:r>
              <a:rPr lang="en-US" sz="1900" dirty="0">
                <a:solidFill>
                  <a:srgbClr val="1A1A1A"/>
                </a:solidFill>
                <a:latin typeface="Times New Roman" pitchFamily="34" charset="0"/>
                <a:ea typeface="Times New Roman" pitchFamily="34" charset="-122"/>
                <a:cs typeface="Times New Roman" pitchFamily="34" charset="-120"/>
              </a:rPr>
              <a:t>Rules are configurable and can be extended over time.</a:t>
            </a:r>
            <a:endParaRPr lang="en-US" sz="1900" dirty="0"/>
          </a:p>
          <a:p>
            <a:pPr marL="0" indent="0">
              <a:spcAft>
                <a:spcPts val="300"/>
              </a:spcAft>
              <a:buNone/>
            </a:pPr>
            <a:r>
              <a:rPr lang="en-US" sz="1900" b="1" dirty="0">
                <a:solidFill>
                  <a:srgbClr val="1F4E79"/>
                </a:solidFill>
                <a:latin typeface="Times New Roman" pitchFamily="34" charset="0"/>
                <a:ea typeface="Times New Roman" pitchFamily="34" charset="-122"/>
                <a:cs typeface="Times New Roman" pitchFamily="34" charset="-120"/>
              </a:rPr>
              <a:t>Challenges</a:t>
            </a:r>
            <a:endParaRPr lang="en-US" sz="1900" dirty="0"/>
          </a:p>
          <a:p>
            <a:pPr marL="342900" indent="-342900">
              <a:spcAft>
                <a:spcPts val="300"/>
              </a:spcAft>
              <a:buSzPct val="100000"/>
              <a:buChar char="•"/>
            </a:pPr>
            <a:r>
              <a:rPr lang="en-US" sz="1900" dirty="0">
                <a:solidFill>
                  <a:srgbClr val="1A1A1A"/>
                </a:solidFill>
                <a:latin typeface="Times New Roman" pitchFamily="34" charset="0"/>
                <a:ea typeface="Times New Roman" pitchFamily="34" charset="-122"/>
                <a:cs typeface="Times New Roman" pitchFamily="34" charset="-120"/>
              </a:rPr>
              <a:t>Detection quality depends on complete, accurate logs.</a:t>
            </a:r>
            <a:endParaRPr lang="en-US" sz="1900" dirty="0"/>
          </a:p>
          <a:p>
            <a:pPr marL="342900" indent="-342900">
              <a:spcAft>
                <a:spcPts val="300"/>
              </a:spcAft>
              <a:buSzPct val="100000"/>
              <a:buChar char="•"/>
            </a:pPr>
            <a:r>
              <a:rPr lang="en-US" sz="1900" dirty="0">
                <a:solidFill>
                  <a:srgbClr val="1A1A1A"/>
                </a:solidFill>
                <a:latin typeface="Times New Roman" pitchFamily="34" charset="0"/>
                <a:ea typeface="Times New Roman" pitchFamily="34" charset="-122"/>
                <a:cs typeface="Times New Roman" pitchFamily="34" charset="-120"/>
              </a:rPr>
              <a:t>Legitimate unusual activity can trigger false positives.</a:t>
            </a:r>
            <a:endParaRPr lang="en-US" sz="1900" dirty="0"/>
          </a:p>
          <a:p>
            <a:pPr marL="342900" indent="-342900">
              <a:spcAft>
                <a:spcPts val="300"/>
              </a:spcAft>
              <a:buSzPct val="100000"/>
              <a:buChar char="•"/>
            </a:pPr>
            <a:r>
              <a:rPr lang="en-US" sz="1900" dirty="0">
                <a:solidFill>
                  <a:srgbClr val="1A1A1A"/>
                </a:solidFill>
                <a:latin typeface="Times New Roman" pitchFamily="34" charset="0"/>
                <a:ea typeface="Times New Roman" pitchFamily="34" charset="-122"/>
                <a:cs typeface="Times New Roman" pitchFamily="34" charset="-120"/>
              </a:rPr>
              <a:t>Some attacks cannot be seen from logs alone.</a:t>
            </a:r>
            <a:endParaRPr lang="en-US" sz="1900" dirty="0"/>
          </a:p>
          <a:p>
            <a:pPr marL="342900" indent="-342900">
              <a:spcAft>
                <a:spcPts val="300"/>
              </a:spcAft>
              <a:buSzPct val="100000"/>
              <a:buChar char="•"/>
            </a:pPr>
            <a:r>
              <a:rPr lang="en-US" sz="1900" dirty="0">
                <a:solidFill>
                  <a:srgbClr val="1A1A1A"/>
                </a:solidFill>
                <a:latin typeface="Times New Roman" pitchFamily="34" charset="0"/>
                <a:ea typeface="Times New Roman" pitchFamily="34" charset="-122"/>
                <a:cs typeface="Times New Roman" pitchFamily="34" charset="-120"/>
              </a:rPr>
              <a:t>The analyzer itself handles sensitive records and must be secured.</a:t>
            </a:r>
            <a:endParaRPr lang="en-US" sz="1900" dirty="0"/>
          </a:p>
          <a:p>
            <a:pPr marL="0" indent="0">
              <a:spcAft>
                <a:spcPts val="300"/>
              </a:spcAft>
              <a:buNone/>
            </a:pPr>
            <a:r>
              <a:rPr lang="en-US" sz="1900" b="1" dirty="0">
                <a:solidFill>
                  <a:srgbClr val="1F4E79"/>
                </a:solidFill>
                <a:latin typeface="Times New Roman" pitchFamily="34" charset="0"/>
                <a:ea typeface="Times New Roman" pitchFamily="34" charset="-122"/>
                <a:cs typeface="Times New Roman" pitchFamily="34" charset="-120"/>
              </a:rPr>
              <a:t>Solutions</a:t>
            </a:r>
            <a:endParaRPr lang="en-US" sz="1900" dirty="0"/>
          </a:p>
          <a:p>
            <a:pPr marL="342900" indent="-342900">
              <a:spcAft>
                <a:spcPts val="300"/>
              </a:spcAft>
              <a:buSzPct val="100000"/>
              <a:buChar char="•"/>
            </a:pPr>
            <a:r>
              <a:rPr lang="en-US" sz="1900" dirty="0">
                <a:solidFill>
                  <a:srgbClr val="1A1A1A"/>
                </a:solidFill>
                <a:latin typeface="Times New Roman" pitchFamily="34" charset="0"/>
                <a:ea typeface="Times New Roman" pitchFamily="34" charset="-122"/>
                <a:cs typeface="Times New Roman" pitchFamily="34" charset="-120"/>
              </a:rPr>
              <a:t>Test rules on labeled synthetic datasets with known outcomes.</a:t>
            </a:r>
            <a:endParaRPr lang="en-US" sz="1900" dirty="0"/>
          </a:p>
          <a:p>
            <a:pPr marL="342900" indent="-342900">
              <a:spcAft>
                <a:spcPts val="300"/>
              </a:spcAft>
              <a:buSzPct val="100000"/>
              <a:buChar char="•"/>
            </a:pPr>
            <a:r>
              <a:rPr lang="en-US" sz="1900" dirty="0">
                <a:solidFill>
                  <a:srgbClr val="1A1A1A"/>
                </a:solidFill>
                <a:latin typeface="Times New Roman" pitchFamily="34" charset="0"/>
                <a:ea typeface="Times New Roman" pitchFamily="34" charset="-122"/>
                <a:cs typeface="Times New Roman" pitchFamily="34" charset="-120"/>
              </a:rPr>
              <a:t>Tune thresholds and show the evidence behind each alert.</a:t>
            </a:r>
            <a:endParaRPr lang="en-US" sz="1900" dirty="0"/>
          </a:p>
          <a:p>
            <a:pPr marL="342900" indent="-342900">
              <a:spcAft>
                <a:spcPts val="300"/>
              </a:spcAft>
              <a:buSzPct val="100000"/>
              <a:buChar char="•"/>
            </a:pPr>
            <a:r>
              <a:rPr lang="en-US" sz="1900" dirty="0">
                <a:solidFill>
                  <a:srgbClr val="1A1A1A"/>
                </a:solidFill>
                <a:latin typeface="Times New Roman" pitchFamily="34" charset="0"/>
                <a:ea typeface="Times New Roman" pitchFamily="34" charset="-122"/>
                <a:cs typeface="Times New Roman" pitchFamily="34" charset="-120"/>
              </a:rPr>
              <a:t>Validate input, authenticate ingestion, and limit access.</a:t>
            </a:r>
            <a:endParaRPr lang="en-US" sz="1900" dirty="0"/>
          </a:p>
          <a:p>
            <a:pPr marL="342900" indent="-342900">
              <a:spcAft>
                <a:spcPts val="300"/>
              </a:spcAft>
              <a:buSzPct val="100000"/>
              <a:buChar char="•"/>
            </a:pPr>
            <a:r>
              <a:rPr lang="en-US" sz="1900" dirty="0">
                <a:solidFill>
                  <a:srgbClr val="1A1A1A"/>
                </a:solidFill>
                <a:latin typeface="Times New Roman" pitchFamily="34" charset="0"/>
                <a:ea typeface="Times New Roman" pitchFamily="34" charset="-122"/>
                <a:cs typeface="Times New Roman" pitchFamily="34" charset="-120"/>
              </a:rPr>
              <a:t>Evaluate precision, false positives, and processing time.</a:t>
            </a:r>
            <a:endParaRPr lang="en-US" sz="1900" dirty="0"/>
          </a:p>
        </p:txBody>
      </p:sp>
      <p:sp>
        <p:nvSpPr>
          <p:cNvPr id="15" name="Shape 12"/>
          <p:cNvSpPr/>
          <p:nvPr/>
        </p:nvSpPr>
        <p:spPr>
          <a:xfrm>
            <a:off x="8595360" y="3154680"/>
            <a:ext cx="1280160" cy="1280160"/>
          </a:xfrm>
          <a:prstGeom prst="ellipse">
            <a:avLst/>
          </a:prstGeom>
          <a:solidFill>
            <a:srgbClr val="EAF1F8"/>
          </a:solidFill>
          <a:ln w="38100">
            <a:solidFill>
              <a:srgbClr val="D97706"/>
            </a:solidFill>
            <a:prstDash val="solid"/>
          </a:ln>
        </p:spPr>
      </p:sp>
      <p:sp>
        <p:nvSpPr>
          <p:cNvPr id="17" name="Shape 14"/>
          <p:cNvSpPr/>
          <p:nvPr/>
        </p:nvSpPr>
        <p:spPr>
          <a:xfrm>
            <a:off x="9235440" y="4434840"/>
            <a:ext cx="0" cy="365760"/>
          </a:xfrm>
          <a:prstGeom prst="line">
            <a:avLst/>
          </a:prstGeom>
          <a:noFill/>
          <a:ln w="25400">
            <a:solidFill>
              <a:srgbClr val="1F4E79"/>
            </a:solidFill>
            <a:prstDash val="solid"/>
            <a:tailEnd type="triangle"/>
          </a:ln>
        </p:spPr>
      </p:sp>
      <p:sp>
        <p:nvSpPr>
          <p:cNvPr id="18" name="Shape 15"/>
          <p:cNvSpPr/>
          <p:nvPr/>
        </p:nvSpPr>
        <p:spPr>
          <a:xfrm>
            <a:off x="8595360" y="4800600"/>
            <a:ext cx="1280160" cy="1280160"/>
          </a:xfrm>
          <a:prstGeom prst="ellipse">
            <a:avLst/>
          </a:prstGeom>
          <a:solidFill>
            <a:srgbClr val="EAF1F8"/>
          </a:solidFill>
          <a:ln w="38100">
            <a:solidFill>
              <a:srgbClr val="1F4E79"/>
            </a:solidFill>
            <a:prstDash val="solid"/>
          </a:ln>
        </p:spPr>
      </p:sp>
      <p:grpSp>
        <p:nvGrpSpPr>
          <p:cNvPr id="20" name="Group 19">
            <a:extLst>
              <a:ext uri="{FF2B5EF4-FFF2-40B4-BE49-F238E27FC236}">
                <a16:creationId xmlns:a16="http://schemas.microsoft.com/office/drawing/2014/main" id="{601B3386-40F4-1061-510F-09AC039FEEBB}"/>
              </a:ext>
            </a:extLst>
          </p:cNvPr>
          <p:cNvGrpSpPr/>
          <p:nvPr/>
        </p:nvGrpSpPr>
        <p:grpSpPr>
          <a:xfrm>
            <a:off x="8595360" y="1508760"/>
            <a:ext cx="1280160" cy="4572000"/>
            <a:chOff x="8595360" y="1508760"/>
            <a:chExt cx="1280160" cy="4572000"/>
          </a:xfrm>
        </p:grpSpPr>
        <p:sp>
          <p:nvSpPr>
            <p:cNvPr id="12" name="Shape 9"/>
            <p:cNvSpPr/>
            <p:nvPr/>
          </p:nvSpPr>
          <p:spPr>
            <a:xfrm>
              <a:off x="8595360" y="1508760"/>
              <a:ext cx="1280160" cy="1280160"/>
            </a:xfrm>
            <a:prstGeom prst="ellipse">
              <a:avLst/>
            </a:prstGeom>
            <a:solidFill>
              <a:srgbClr val="EAF1F8"/>
            </a:solidFill>
            <a:ln w="38100">
              <a:solidFill>
                <a:srgbClr val="0D9488"/>
              </a:solidFill>
              <a:prstDash val="solid"/>
            </a:ln>
          </p:spPr>
        </p:sp>
        <p:sp>
          <p:nvSpPr>
            <p:cNvPr id="16" name="Text 13"/>
            <p:cNvSpPr txBox="1"/>
            <p:nvPr/>
          </p:nvSpPr>
          <p:spPr>
            <a:xfrm>
              <a:off x="8595360" y="3154680"/>
              <a:ext cx="1280160" cy="1280160"/>
            </a:xfrm>
            <a:prstGeom prst="rect">
              <a:avLst/>
            </a:prstGeom>
            <a:noFill/>
            <a:ln/>
          </p:spPr>
          <p:txBody>
            <a:bodyPr wrap="square" lIns="0" tIns="0" rIns="0" bIns="0" rtlCol="0" anchor="ctr"/>
            <a:lstStyle/>
            <a:p>
              <a:pPr marL="0" indent="0" algn="ctr">
                <a:buNone/>
              </a:pPr>
              <a:r>
                <a:rPr lang="en-US" sz="1400" b="1" dirty="0">
                  <a:solidFill>
                    <a:srgbClr val="D97706"/>
                  </a:solidFill>
                  <a:latin typeface="Times New Roman" pitchFamily="34" charset="0"/>
                  <a:ea typeface="Times New Roman" pitchFamily="34" charset="-122"/>
                  <a:cs typeface="Times New Roman" pitchFamily="34" charset="-120"/>
                </a:rPr>
                <a:t>Challenges</a:t>
              </a:r>
              <a:endParaRPr lang="en-US" sz="1400" dirty="0"/>
            </a:p>
          </p:txBody>
        </p:sp>
        <p:grpSp>
          <p:nvGrpSpPr>
            <p:cNvPr id="10" name="Group 9">
              <a:extLst>
                <a:ext uri="{FF2B5EF4-FFF2-40B4-BE49-F238E27FC236}">
                  <a16:creationId xmlns:a16="http://schemas.microsoft.com/office/drawing/2014/main" id="{8FBB2DB7-FF91-BD22-E336-F384B744B3AC}"/>
                </a:ext>
              </a:extLst>
            </p:cNvPr>
            <p:cNvGrpSpPr/>
            <p:nvPr/>
          </p:nvGrpSpPr>
          <p:grpSpPr>
            <a:xfrm>
              <a:off x="8595360" y="1508760"/>
              <a:ext cx="1280160" cy="4572000"/>
              <a:chOff x="8595360" y="1508760"/>
              <a:chExt cx="1280160" cy="4572000"/>
            </a:xfrm>
          </p:grpSpPr>
          <p:sp>
            <p:nvSpPr>
              <p:cNvPr id="13" name="Text 10"/>
              <p:cNvSpPr txBox="1"/>
              <p:nvPr/>
            </p:nvSpPr>
            <p:spPr>
              <a:xfrm>
                <a:off x="8595360" y="1508760"/>
                <a:ext cx="1280160" cy="1280160"/>
              </a:xfrm>
              <a:prstGeom prst="rect">
                <a:avLst/>
              </a:prstGeom>
              <a:noFill/>
              <a:ln/>
            </p:spPr>
            <p:txBody>
              <a:bodyPr wrap="square" lIns="0" tIns="0" rIns="0" bIns="0" rtlCol="0" anchor="ctr"/>
              <a:lstStyle/>
              <a:p>
                <a:pPr marL="0" indent="0" algn="ctr">
                  <a:buNone/>
                </a:pPr>
                <a:r>
                  <a:rPr lang="en-US" sz="1400" b="1" dirty="0">
                    <a:solidFill>
                      <a:srgbClr val="0D9488"/>
                    </a:solidFill>
                    <a:latin typeface="Times New Roman" pitchFamily="34" charset="0"/>
                    <a:ea typeface="Times New Roman" pitchFamily="34" charset="-122"/>
                    <a:cs typeface="Times New Roman" pitchFamily="34" charset="-120"/>
                  </a:rPr>
                  <a:t>Feasibility</a:t>
                </a:r>
                <a:endParaRPr lang="en-US" sz="1400" dirty="0"/>
              </a:p>
            </p:txBody>
          </p:sp>
          <p:sp>
            <p:nvSpPr>
              <p:cNvPr id="14" name="Shape 11"/>
              <p:cNvSpPr/>
              <p:nvPr/>
            </p:nvSpPr>
            <p:spPr>
              <a:xfrm>
                <a:off x="9235440" y="2788920"/>
                <a:ext cx="0" cy="365760"/>
              </a:xfrm>
              <a:prstGeom prst="line">
                <a:avLst/>
              </a:prstGeom>
              <a:noFill/>
              <a:ln w="25400">
                <a:solidFill>
                  <a:srgbClr val="1F4E79"/>
                </a:solidFill>
                <a:prstDash val="solid"/>
                <a:tailEnd type="triangle"/>
              </a:ln>
            </p:spPr>
          </p:sp>
          <p:sp>
            <p:nvSpPr>
              <p:cNvPr id="19" name="Text 16"/>
              <p:cNvSpPr txBox="1"/>
              <p:nvPr/>
            </p:nvSpPr>
            <p:spPr>
              <a:xfrm>
                <a:off x="8595360" y="4800600"/>
                <a:ext cx="1280160" cy="1280160"/>
              </a:xfrm>
              <a:prstGeom prst="rect">
                <a:avLst/>
              </a:prstGeom>
              <a:noFill/>
              <a:ln/>
            </p:spPr>
            <p:txBody>
              <a:bodyPr wrap="square" lIns="0" tIns="0" rIns="0" bIns="0" rtlCol="0" anchor="ctr"/>
              <a:lstStyle/>
              <a:p>
                <a:pPr marL="0" indent="0" algn="ctr">
                  <a:buNone/>
                </a:pPr>
                <a:r>
                  <a:rPr lang="en-US" sz="1400" b="1" dirty="0">
                    <a:solidFill>
                      <a:srgbClr val="1F4E79"/>
                    </a:solidFill>
                    <a:latin typeface="Times New Roman" pitchFamily="34" charset="0"/>
                    <a:ea typeface="Times New Roman" pitchFamily="34" charset="-122"/>
                    <a:cs typeface="Times New Roman" pitchFamily="34" charset="-120"/>
                  </a:rPr>
                  <a:t>Solutions</a:t>
                </a:r>
                <a:endParaRPr lang="en-US" sz="1400" dirty="0"/>
              </a:p>
            </p:txBody>
          </p:sp>
        </p:gr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1480" y="262890"/>
            <a:ext cx="416052" cy="416052"/>
          </a:xfrm>
          <a:prstGeom prst="ellipse">
            <a:avLst/>
          </a:prstGeom>
          <a:solidFill>
            <a:srgbClr val="1F4E79">
              <a:alpha val="65000"/>
            </a:srgbClr>
          </a:solidFill>
          <a:ln w="12700">
            <a:solidFill>
              <a:srgbClr val="FFFFFF"/>
            </a:solidFill>
            <a:prstDash val="solid"/>
          </a:ln>
        </p:spPr>
      </p:sp>
      <p:sp>
        <p:nvSpPr>
          <p:cNvPr id="3" name="Shape 1"/>
          <p:cNvSpPr/>
          <p:nvPr/>
        </p:nvSpPr>
        <p:spPr>
          <a:xfrm>
            <a:off x="587502" y="262890"/>
            <a:ext cx="416052" cy="416052"/>
          </a:xfrm>
          <a:prstGeom prst="ellipse">
            <a:avLst/>
          </a:prstGeom>
          <a:solidFill>
            <a:srgbClr val="0D9488">
              <a:alpha val="65000"/>
            </a:srgbClr>
          </a:solidFill>
          <a:ln w="12700">
            <a:solidFill>
              <a:srgbClr val="FFFFFF"/>
            </a:solidFill>
            <a:prstDash val="solid"/>
          </a:ln>
        </p:spPr>
      </p:sp>
      <p:sp>
        <p:nvSpPr>
          <p:cNvPr id="4" name="Shape 2"/>
          <p:cNvSpPr/>
          <p:nvPr/>
        </p:nvSpPr>
        <p:spPr>
          <a:xfrm>
            <a:off x="763524" y="262890"/>
            <a:ext cx="416052" cy="416052"/>
          </a:xfrm>
          <a:prstGeom prst="ellipse">
            <a:avLst/>
          </a:prstGeom>
          <a:solidFill>
            <a:srgbClr val="2563EB">
              <a:alpha val="65000"/>
            </a:srgbClr>
          </a:solidFill>
          <a:ln w="12700">
            <a:solidFill>
              <a:srgbClr val="FFFFFF"/>
            </a:solidFill>
            <a:prstDash val="solid"/>
          </a:ln>
        </p:spPr>
      </p:sp>
      <p:sp>
        <p:nvSpPr>
          <p:cNvPr id="5" name="Text 3"/>
          <p:cNvSpPr txBox="1"/>
          <p:nvPr/>
        </p:nvSpPr>
        <p:spPr>
          <a:xfrm>
            <a:off x="1275588" y="230886"/>
            <a:ext cx="1280160" cy="360045"/>
          </a:xfrm>
          <a:prstGeom prst="rect">
            <a:avLst/>
          </a:prstGeom>
          <a:noFill/>
          <a:ln/>
        </p:spPr>
        <p:txBody>
          <a:bodyPr wrap="none" lIns="0" tIns="0" rIns="0" bIns="0" rtlCol="0" anchor="ctr"/>
          <a:lstStyle/>
          <a:p>
            <a:pPr marL="0" indent="0">
              <a:buNone/>
            </a:pPr>
            <a:r>
              <a:rPr lang="en-US" sz="1200" b="1" dirty="0">
                <a:solidFill>
                  <a:srgbClr val="1F4E79"/>
                </a:solidFill>
                <a:latin typeface="Arial" pitchFamily="34" charset="0"/>
                <a:ea typeface="Arial" pitchFamily="34" charset="-122"/>
                <a:cs typeface="Arial" pitchFamily="34" charset="-120"/>
              </a:rPr>
              <a:t>CONSENSUS</a:t>
            </a:r>
            <a:endParaRPr lang="en-US" sz="1200" dirty="0"/>
          </a:p>
        </p:txBody>
      </p:sp>
      <p:sp>
        <p:nvSpPr>
          <p:cNvPr id="6" name="Text 4"/>
          <p:cNvSpPr txBox="1"/>
          <p:nvPr/>
        </p:nvSpPr>
        <p:spPr>
          <a:xfrm>
            <a:off x="1275588" y="582930"/>
            <a:ext cx="1120140" cy="176022"/>
          </a:xfrm>
          <a:prstGeom prst="rect">
            <a:avLst/>
          </a:prstGeom>
          <a:noFill/>
          <a:ln/>
        </p:spPr>
        <p:txBody>
          <a:bodyPr wrap="square" lIns="0" tIns="0" rIns="0" bIns="0" rtlCol="0" anchor="ctr"/>
          <a:lstStyle/>
          <a:p>
            <a:pPr marL="0" indent="0">
              <a:buNone/>
            </a:pPr>
            <a:r>
              <a:rPr lang="en-US" sz="700" b="1" kern="0" spc="200" dirty="0">
                <a:solidFill>
                  <a:srgbClr val="0D9488"/>
                </a:solidFill>
                <a:latin typeface="Arial" pitchFamily="34" charset="0"/>
                <a:ea typeface="Arial" pitchFamily="34" charset="-122"/>
                <a:cs typeface="Arial" pitchFamily="34" charset="-120"/>
              </a:rPr>
              <a:t>TEAM KH001</a:t>
            </a:r>
            <a:endParaRPr lang="en-US" sz="700" dirty="0"/>
          </a:p>
        </p:txBody>
      </p:sp>
      <p:sp>
        <p:nvSpPr>
          <p:cNvPr id="7" name="Text 5"/>
          <p:cNvSpPr txBox="1"/>
          <p:nvPr/>
        </p:nvSpPr>
        <p:spPr>
          <a:xfrm>
            <a:off x="2560320" y="274320"/>
            <a:ext cx="7132320" cy="640080"/>
          </a:xfrm>
          <a:prstGeom prst="rect">
            <a:avLst/>
          </a:prstGeom>
          <a:noFill/>
          <a:ln/>
        </p:spPr>
        <p:txBody>
          <a:bodyPr wrap="square" lIns="0" tIns="0" rIns="0" bIns="0" rtlCol="0" anchor="ctr"/>
          <a:lstStyle/>
          <a:p>
            <a:pPr marL="0" indent="0" algn="ctr">
              <a:buNone/>
            </a:pPr>
            <a:r>
              <a:rPr lang="en-US" sz="2800" b="1" dirty="0">
                <a:solidFill>
                  <a:srgbClr val="1F4E79"/>
                </a:solidFill>
                <a:latin typeface="Times New Roman" pitchFamily="34" charset="0"/>
                <a:ea typeface="Times New Roman" pitchFamily="34" charset="-122"/>
                <a:cs typeface="Times New Roman" pitchFamily="34" charset="-120"/>
              </a:rPr>
              <a:t>IMPACT AND BENEFITS</a:t>
            </a:r>
            <a:endParaRPr lang="en-US" sz="2800" dirty="0"/>
          </a:p>
        </p:txBody>
      </p:sp>
      <p:sp>
        <p:nvSpPr>
          <p:cNvPr id="8" name="Shape 6"/>
          <p:cNvSpPr/>
          <p:nvPr/>
        </p:nvSpPr>
        <p:spPr>
          <a:xfrm>
            <a:off x="502920" y="1024128"/>
            <a:ext cx="11183112" cy="0"/>
          </a:xfrm>
          <a:prstGeom prst="line">
            <a:avLst/>
          </a:prstGeom>
          <a:noFill/>
          <a:ln w="15875">
            <a:solidFill>
              <a:srgbClr val="1F4E79"/>
            </a:solidFill>
            <a:prstDash val="solid"/>
          </a:ln>
        </p:spPr>
      </p:sp>
      <p:sp>
        <p:nvSpPr>
          <p:cNvPr id="9" name="Text 7"/>
          <p:cNvSpPr txBox="1"/>
          <p:nvPr/>
        </p:nvSpPr>
        <p:spPr>
          <a:xfrm>
            <a:off x="11228832" y="6446520"/>
            <a:ext cx="457200" cy="274320"/>
          </a:xfrm>
          <a:prstGeom prst="rect">
            <a:avLst/>
          </a:prstGeom>
          <a:noFill/>
          <a:ln/>
        </p:spPr>
        <p:txBody>
          <a:bodyPr wrap="square" lIns="0" tIns="0" rIns="0" bIns="0" rtlCol="0" anchor="t"/>
          <a:lstStyle/>
          <a:p>
            <a:pPr marL="0" indent="0" algn="r">
              <a:buNone/>
            </a:pPr>
            <a:r>
              <a:rPr lang="en-US" sz="1200" dirty="0">
                <a:solidFill>
                  <a:srgbClr val="475569"/>
                </a:solidFill>
                <a:latin typeface="Times New Roman" pitchFamily="34" charset="0"/>
                <a:ea typeface="Times New Roman" pitchFamily="34" charset="-122"/>
                <a:cs typeface="Times New Roman" pitchFamily="34" charset="-120"/>
              </a:rPr>
              <a:t>5</a:t>
            </a:r>
            <a:endParaRPr lang="en-US" sz="1200" dirty="0"/>
          </a:p>
        </p:txBody>
      </p:sp>
      <p:sp>
        <p:nvSpPr>
          <p:cNvPr id="11" name="Shape 8"/>
          <p:cNvSpPr/>
          <p:nvPr/>
        </p:nvSpPr>
        <p:spPr>
          <a:xfrm>
            <a:off x="1011160" y="1474470"/>
            <a:ext cx="4572000" cy="2286000"/>
          </a:xfrm>
          <a:prstGeom prst="roundRect">
            <a:avLst>
              <a:gd name="adj" fmla="val 3200"/>
            </a:avLst>
          </a:prstGeom>
          <a:solidFill>
            <a:srgbClr val="EAF1F8"/>
          </a:solidFill>
          <a:ln w="12700">
            <a:solidFill>
              <a:srgbClr val="9DB7D1"/>
            </a:solidFill>
            <a:prstDash val="solid"/>
          </a:ln>
        </p:spPr>
      </p:sp>
      <p:sp>
        <p:nvSpPr>
          <p:cNvPr id="12" name="Text 9"/>
          <p:cNvSpPr txBox="1"/>
          <p:nvPr/>
        </p:nvSpPr>
        <p:spPr>
          <a:xfrm>
            <a:off x="1285480" y="1611630"/>
            <a:ext cx="4023360" cy="2011680"/>
          </a:xfrm>
          <a:prstGeom prst="rect">
            <a:avLst/>
          </a:prstGeom>
          <a:noFill/>
          <a:ln/>
        </p:spPr>
        <p:txBody>
          <a:bodyPr wrap="square" lIns="0" tIns="0" rIns="0" bIns="0" rtlCol="0" anchor="t"/>
          <a:lstStyle/>
          <a:p>
            <a:pPr marL="0" indent="0">
              <a:spcAft>
                <a:spcPts val="400"/>
              </a:spcAft>
              <a:buNone/>
            </a:pPr>
            <a:r>
              <a:rPr lang="en-US" sz="2000" b="1" dirty="0">
                <a:solidFill>
                  <a:srgbClr val="1F4E79"/>
                </a:solidFill>
                <a:latin typeface="Times New Roman" pitchFamily="34" charset="0"/>
                <a:ea typeface="Times New Roman" pitchFamily="34" charset="-122"/>
                <a:cs typeface="Times New Roman" pitchFamily="34" charset="-120"/>
              </a:rPr>
              <a:t>For Application Teams</a:t>
            </a:r>
            <a:endParaRPr lang="en-US" sz="2000" dirty="0"/>
          </a:p>
          <a:p>
            <a:pPr marL="342900" indent="-342900">
              <a:spcAft>
                <a:spcPts val="400"/>
              </a:spcAft>
              <a:buSzPct val="100000"/>
              <a:buChar char="•"/>
            </a:pPr>
            <a:r>
              <a:rPr lang="en-US" sz="2000" dirty="0">
                <a:solidFill>
                  <a:srgbClr val="1A1A1A"/>
                </a:solidFill>
                <a:latin typeface="Times New Roman" pitchFamily="34" charset="0"/>
                <a:ea typeface="Times New Roman" pitchFamily="34" charset="-122"/>
                <a:cs typeface="Times New Roman" pitchFamily="34" charset="-120"/>
              </a:rPr>
              <a:t>Clear view of application activity</a:t>
            </a:r>
            <a:endParaRPr lang="en-US" sz="2000" dirty="0"/>
          </a:p>
          <a:p>
            <a:pPr marL="342900" indent="-342900">
              <a:spcAft>
                <a:spcPts val="400"/>
              </a:spcAft>
              <a:buSzPct val="100000"/>
              <a:buChar char="•"/>
            </a:pPr>
            <a:r>
              <a:rPr lang="en-US" sz="2000" dirty="0">
                <a:solidFill>
                  <a:srgbClr val="1A1A1A"/>
                </a:solidFill>
                <a:latin typeface="Times New Roman" pitchFamily="34" charset="0"/>
                <a:ea typeface="Times New Roman" pitchFamily="34" charset="-122"/>
                <a:cs typeface="Times New Roman" pitchFamily="34" charset="-120"/>
              </a:rPr>
              <a:t>Earlier visibility of suspicious patterns</a:t>
            </a:r>
            <a:endParaRPr lang="en-US" sz="2000" dirty="0"/>
          </a:p>
          <a:p>
            <a:pPr marL="342900" indent="-342900">
              <a:spcAft>
                <a:spcPts val="400"/>
              </a:spcAft>
              <a:buSzPct val="100000"/>
              <a:buChar char="•"/>
            </a:pPr>
            <a:r>
              <a:rPr lang="en-US" sz="2000" dirty="0">
                <a:solidFill>
                  <a:srgbClr val="1A1A1A"/>
                </a:solidFill>
                <a:latin typeface="Times New Roman" pitchFamily="34" charset="0"/>
                <a:ea typeface="Times New Roman" pitchFamily="34" charset="-122"/>
                <a:cs typeface="Times New Roman" pitchFamily="34" charset="-120"/>
              </a:rPr>
              <a:t>Safe, validated log handling</a:t>
            </a:r>
            <a:endParaRPr lang="en-US" sz="2000" dirty="0"/>
          </a:p>
          <a:p>
            <a:pPr marL="342900" indent="-342900">
              <a:spcAft>
                <a:spcPts val="400"/>
              </a:spcAft>
              <a:buSzPct val="100000"/>
              <a:buChar char="•"/>
            </a:pPr>
            <a:r>
              <a:rPr lang="en-US" sz="2000" dirty="0">
                <a:solidFill>
                  <a:srgbClr val="1A1A1A"/>
                </a:solidFill>
                <a:latin typeface="Times New Roman" pitchFamily="34" charset="0"/>
                <a:ea typeface="Times New Roman" pitchFamily="34" charset="-122"/>
                <a:cs typeface="Times New Roman" pitchFamily="34" charset="-120"/>
              </a:rPr>
              <a:t>Foundation for portal integration</a:t>
            </a:r>
            <a:endParaRPr lang="en-US" sz="2000" dirty="0"/>
          </a:p>
        </p:txBody>
      </p:sp>
      <p:sp>
        <p:nvSpPr>
          <p:cNvPr id="13" name="Shape 10"/>
          <p:cNvSpPr/>
          <p:nvPr/>
        </p:nvSpPr>
        <p:spPr>
          <a:xfrm>
            <a:off x="6210264" y="1474470"/>
            <a:ext cx="4572000" cy="2286000"/>
          </a:xfrm>
          <a:prstGeom prst="roundRect">
            <a:avLst>
              <a:gd name="adj" fmla="val 3200"/>
            </a:avLst>
          </a:prstGeom>
          <a:solidFill>
            <a:srgbClr val="EAF1F8"/>
          </a:solidFill>
          <a:ln w="12700">
            <a:solidFill>
              <a:srgbClr val="9DB7D1"/>
            </a:solidFill>
            <a:prstDash val="solid"/>
          </a:ln>
        </p:spPr>
      </p:sp>
      <p:sp>
        <p:nvSpPr>
          <p:cNvPr id="14" name="Text 11"/>
          <p:cNvSpPr txBox="1"/>
          <p:nvPr/>
        </p:nvSpPr>
        <p:spPr>
          <a:xfrm>
            <a:off x="6484584" y="1611630"/>
            <a:ext cx="4023360" cy="2011680"/>
          </a:xfrm>
          <a:prstGeom prst="rect">
            <a:avLst/>
          </a:prstGeom>
          <a:noFill/>
          <a:ln/>
        </p:spPr>
        <p:txBody>
          <a:bodyPr wrap="square" lIns="0" tIns="0" rIns="0" bIns="0" rtlCol="0" anchor="t"/>
          <a:lstStyle/>
          <a:p>
            <a:pPr marL="0" indent="0">
              <a:spcAft>
                <a:spcPts val="400"/>
              </a:spcAft>
              <a:buNone/>
            </a:pPr>
            <a:r>
              <a:rPr lang="en-US" sz="2000" b="1" dirty="0">
                <a:solidFill>
                  <a:srgbClr val="1F4E79"/>
                </a:solidFill>
                <a:latin typeface="Times New Roman" pitchFamily="34" charset="0"/>
                <a:ea typeface="Times New Roman" pitchFamily="34" charset="-122"/>
                <a:cs typeface="Times New Roman" pitchFamily="34" charset="-120"/>
              </a:rPr>
              <a:t>For Security Analysts</a:t>
            </a:r>
            <a:endParaRPr lang="en-US" sz="2000" dirty="0"/>
          </a:p>
          <a:p>
            <a:pPr marL="342900" indent="-342900">
              <a:spcAft>
                <a:spcPts val="400"/>
              </a:spcAft>
              <a:buSzPct val="100000"/>
              <a:buChar char="•"/>
            </a:pPr>
            <a:r>
              <a:rPr lang="en-US" sz="2000" dirty="0">
                <a:solidFill>
                  <a:srgbClr val="1A1A1A"/>
                </a:solidFill>
                <a:latin typeface="Times New Roman" pitchFamily="34" charset="0"/>
                <a:ea typeface="Times New Roman" pitchFamily="34" charset="-122"/>
                <a:cs typeface="Times New Roman" pitchFamily="34" charset="-120"/>
              </a:rPr>
              <a:t>Searchable, filterable log events</a:t>
            </a:r>
            <a:endParaRPr lang="en-US" sz="2000" dirty="0"/>
          </a:p>
          <a:p>
            <a:pPr marL="342900" indent="-342900">
              <a:spcAft>
                <a:spcPts val="400"/>
              </a:spcAft>
              <a:buSzPct val="100000"/>
              <a:buChar char="•"/>
            </a:pPr>
            <a:r>
              <a:rPr lang="en-US" sz="2000" dirty="0">
                <a:solidFill>
                  <a:srgbClr val="1A1A1A"/>
                </a:solidFill>
                <a:latin typeface="Times New Roman" pitchFamily="34" charset="0"/>
                <a:ea typeface="Times New Roman" pitchFamily="34" charset="-122"/>
                <a:cs typeface="Times New Roman" pitchFamily="34" charset="-120"/>
              </a:rPr>
              <a:t>Evidence-backed alerts</a:t>
            </a:r>
            <a:endParaRPr lang="en-US" sz="2000" dirty="0"/>
          </a:p>
          <a:p>
            <a:pPr marL="342900" indent="-342900">
              <a:spcAft>
                <a:spcPts val="400"/>
              </a:spcAft>
              <a:buSzPct val="100000"/>
              <a:buChar char="•"/>
            </a:pPr>
            <a:r>
              <a:rPr lang="en-US" sz="2000" dirty="0">
                <a:solidFill>
                  <a:srgbClr val="1A1A1A"/>
                </a:solidFill>
                <a:latin typeface="Times New Roman" pitchFamily="34" charset="0"/>
                <a:ea typeface="Times New Roman" pitchFamily="34" charset="-122"/>
                <a:cs typeface="Times New Roman" pitchFamily="34" charset="-120"/>
              </a:rPr>
              <a:t>Related alerts grouped into incidents</a:t>
            </a:r>
            <a:endParaRPr lang="en-US" sz="2000" dirty="0"/>
          </a:p>
          <a:p>
            <a:pPr marL="342900" indent="-342900">
              <a:spcAft>
                <a:spcPts val="400"/>
              </a:spcAft>
              <a:buSzPct val="100000"/>
              <a:buChar char="•"/>
            </a:pPr>
            <a:r>
              <a:rPr lang="en-US" sz="2000" dirty="0">
                <a:solidFill>
                  <a:srgbClr val="1A1A1A"/>
                </a:solidFill>
                <a:latin typeface="Times New Roman" pitchFamily="34" charset="0"/>
                <a:ea typeface="Times New Roman" pitchFamily="34" charset="-122"/>
                <a:cs typeface="Times New Roman" pitchFamily="34" charset="-120"/>
              </a:rPr>
              <a:t>Explainable risk prioritization</a:t>
            </a:r>
            <a:endParaRPr lang="en-US" sz="2000" dirty="0"/>
          </a:p>
        </p:txBody>
      </p:sp>
      <p:sp>
        <p:nvSpPr>
          <p:cNvPr id="15" name="Shape 12"/>
          <p:cNvSpPr/>
          <p:nvPr/>
        </p:nvSpPr>
        <p:spPr>
          <a:xfrm>
            <a:off x="1011160" y="3989070"/>
            <a:ext cx="4572000" cy="2286000"/>
          </a:xfrm>
          <a:prstGeom prst="roundRect">
            <a:avLst>
              <a:gd name="adj" fmla="val 3200"/>
            </a:avLst>
          </a:prstGeom>
          <a:solidFill>
            <a:srgbClr val="EAF1F8"/>
          </a:solidFill>
          <a:ln w="12700">
            <a:solidFill>
              <a:srgbClr val="9DB7D1"/>
            </a:solidFill>
            <a:prstDash val="solid"/>
          </a:ln>
        </p:spPr>
      </p:sp>
      <p:sp>
        <p:nvSpPr>
          <p:cNvPr id="16" name="Text 13"/>
          <p:cNvSpPr txBox="1"/>
          <p:nvPr/>
        </p:nvSpPr>
        <p:spPr>
          <a:xfrm>
            <a:off x="1285480" y="4126230"/>
            <a:ext cx="4023360" cy="2011680"/>
          </a:xfrm>
          <a:prstGeom prst="rect">
            <a:avLst/>
          </a:prstGeom>
          <a:noFill/>
          <a:ln/>
        </p:spPr>
        <p:txBody>
          <a:bodyPr wrap="square" lIns="0" tIns="0" rIns="0" bIns="0" rtlCol="0" anchor="t"/>
          <a:lstStyle/>
          <a:p>
            <a:pPr marL="0" indent="0">
              <a:spcAft>
                <a:spcPts val="400"/>
              </a:spcAft>
              <a:buNone/>
            </a:pPr>
            <a:r>
              <a:rPr lang="en-US" sz="2000" b="1" dirty="0">
                <a:solidFill>
                  <a:srgbClr val="1F4E79"/>
                </a:solidFill>
                <a:latin typeface="Times New Roman" pitchFamily="34" charset="0"/>
                <a:ea typeface="Times New Roman" pitchFamily="34" charset="-122"/>
                <a:cs typeface="Times New Roman" pitchFamily="34" charset="-120"/>
              </a:rPr>
              <a:t>For Institutions</a:t>
            </a:r>
            <a:endParaRPr lang="en-US" sz="2000" dirty="0"/>
          </a:p>
          <a:p>
            <a:pPr marL="342900" indent="-342900">
              <a:spcAft>
                <a:spcPts val="400"/>
              </a:spcAft>
              <a:buSzPct val="100000"/>
              <a:buChar char="•"/>
            </a:pPr>
            <a:r>
              <a:rPr lang="en-US" sz="2000" dirty="0">
                <a:solidFill>
                  <a:srgbClr val="1A1A1A"/>
                </a:solidFill>
                <a:latin typeface="Times New Roman" pitchFamily="34" charset="0"/>
                <a:ea typeface="Times New Roman" pitchFamily="34" charset="-122"/>
                <a:cs typeface="Times New Roman" pitchFamily="34" charset="-120"/>
              </a:rPr>
              <a:t>Consistent rule-based monitoring</a:t>
            </a:r>
            <a:endParaRPr lang="en-US" sz="2000" dirty="0"/>
          </a:p>
          <a:p>
            <a:pPr marL="342900" indent="-342900">
              <a:spcAft>
                <a:spcPts val="400"/>
              </a:spcAft>
              <a:buSzPct val="100000"/>
              <a:buChar char="•"/>
            </a:pPr>
            <a:r>
              <a:rPr lang="en-US" sz="2000" dirty="0">
                <a:solidFill>
                  <a:srgbClr val="1A1A1A"/>
                </a:solidFill>
                <a:latin typeface="Times New Roman" pitchFamily="34" charset="0"/>
                <a:ea typeface="Times New Roman" pitchFamily="34" charset="-122"/>
                <a:cs typeface="Times New Roman" pitchFamily="34" charset="-120"/>
              </a:rPr>
              <a:t>Summary reports with CSV export</a:t>
            </a:r>
            <a:endParaRPr lang="en-US" sz="2000" dirty="0"/>
          </a:p>
          <a:p>
            <a:pPr marL="342900" indent="-342900">
              <a:spcAft>
                <a:spcPts val="400"/>
              </a:spcAft>
              <a:buSzPct val="100000"/>
              <a:buChar char="•"/>
            </a:pPr>
            <a:r>
              <a:rPr lang="en-US" sz="2000" dirty="0">
                <a:solidFill>
                  <a:srgbClr val="1A1A1A"/>
                </a:solidFill>
                <a:latin typeface="Times New Roman" pitchFamily="34" charset="0"/>
                <a:ea typeface="Times New Roman" pitchFamily="34" charset="-122"/>
                <a:cs typeface="Times New Roman" pitchFamily="34" charset="-120"/>
              </a:rPr>
              <a:t>Privacy-aware log practices</a:t>
            </a:r>
            <a:endParaRPr lang="en-US" sz="2000" dirty="0"/>
          </a:p>
          <a:p>
            <a:pPr marL="342900" indent="-342900">
              <a:spcAft>
                <a:spcPts val="400"/>
              </a:spcAft>
              <a:buSzPct val="100000"/>
              <a:buChar char="•"/>
            </a:pPr>
            <a:r>
              <a:rPr lang="en-US" sz="2000" dirty="0">
                <a:solidFill>
                  <a:srgbClr val="1A1A1A"/>
                </a:solidFill>
                <a:latin typeface="Times New Roman" pitchFamily="34" charset="0"/>
                <a:ea typeface="Times New Roman" pitchFamily="34" charset="-122"/>
                <a:cs typeface="Times New Roman" pitchFamily="34" charset="-120"/>
              </a:rPr>
              <a:t>Better visibility into system activity</a:t>
            </a:r>
            <a:endParaRPr lang="en-US" sz="2000" dirty="0"/>
          </a:p>
        </p:txBody>
      </p:sp>
      <p:sp>
        <p:nvSpPr>
          <p:cNvPr id="17" name="Shape 14"/>
          <p:cNvSpPr/>
          <p:nvPr/>
        </p:nvSpPr>
        <p:spPr>
          <a:xfrm>
            <a:off x="6210264" y="3989070"/>
            <a:ext cx="4572000" cy="2286000"/>
          </a:xfrm>
          <a:prstGeom prst="roundRect">
            <a:avLst>
              <a:gd name="adj" fmla="val 3200"/>
            </a:avLst>
          </a:prstGeom>
          <a:solidFill>
            <a:srgbClr val="EAF1F8"/>
          </a:solidFill>
          <a:ln w="12700">
            <a:solidFill>
              <a:srgbClr val="9DB7D1"/>
            </a:solidFill>
            <a:prstDash val="solid"/>
          </a:ln>
        </p:spPr>
      </p:sp>
      <p:sp>
        <p:nvSpPr>
          <p:cNvPr id="18" name="Text 15"/>
          <p:cNvSpPr txBox="1"/>
          <p:nvPr/>
        </p:nvSpPr>
        <p:spPr>
          <a:xfrm>
            <a:off x="6484584" y="4126230"/>
            <a:ext cx="4023360" cy="2011680"/>
          </a:xfrm>
          <a:prstGeom prst="rect">
            <a:avLst/>
          </a:prstGeom>
          <a:noFill/>
          <a:ln/>
        </p:spPr>
        <p:txBody>
          <a:bodyPr wrap="square" lIns="0" tIns="0" rIns="0" bIns="0" rtlCol="0" anchor="t"/>
          <a:lstStyle/>
          <a:p>
            <a:pPr marL="0" indent="0">
              <a:spcAft>
                <a:spcPts val="400"/>
              </a:spcAft>
              <a:buNone/>
            </a:pPr>
            <a:r>
              <a:rPr lang="en-US" sz="2000" b="1" dirty="0">
                <a:solidFill>
                  <a:srgbClr val="1F4E79"/>
                </a:solidFill>
                <a:latin typeface="Times New Roman" pitchFamily="34" charset="0"/>
                <a:ea typeface="Times New Roman" pitchFamily="34" charset="-122"/>
                <a:cs typeface="Times New Roman" pitchFamily="34" charset="-120"/>
              </a:rPr>
              <a:t>For Future Growth</a:t>
            </a:r>
            <a:endParaRPr lang="en-US" sz="2000" dirty="0"/>
          </a:p>
          <a:p>
            <a:pPr marL="342900" indent="-342900">
              <a:spcAft>
                <a:spcPts val="400"/>
              </a:spcAft>
              <a:buSzPct val="100000"/>
              <a:buChar char="•"/>
            </a:pPr>
            <a:r>
              <a:rPr lang="en-US" sz="2000" dirty="0">
                <a:solidFill>
                  <a:srgbClr val="1A1A1A"/>
                </a:solidFill>
                <a:latin typeface="Times New Roman" pitchFamily="34" charset="0"/>
                <a:ea typeface="Times New Roman" pitchFamily="34" charset="-122"/>
                <a:cs typeface="Times New Roman" pitchFamily="34" charset="-120"/>
              </a:rPr>
              <a:t>Authenticated automated ingestion</a:t>
            </a:r>
            <a:endParaRPr lang="en-US" sz="2000" dirty="0"/>
          </a:p>
          <a:p>
            <a:pPr marL="342900" indent="-342900">
              <a:spcAft>
                <a:spcPts val="400"/>
              </a:spcAft>
              <a:buSzPct val="100000"/>
              <a:buChar char="•"/>
            </a:pPr>
            <a:r>
              <a:rPr lang="en-US" sz="2000" dirty="0">
                <a:solidFill>
                  <a:srgbClr val="1A1A1A"/>
                </a:solidFill>
                <a:latin typeface="Times New Roman" pitchFamily="34" charset="0"/>
                <a:ea typeface="Times New Roman" pitchFamily="34" charset="-122"/>
                <a:cs typeface="Times New Roman" pitchFamily="34" charset="-120"/>
              </a:rPr>
              <a:t>Near-real-time processing</a:t>
            </a:r>
            <a:endParaRPr lang="en-US" sz="2000" dirty="0"/>
          </a:p>
          <a:p>
            <a:pPr marL="342900" indent="-342900">
              <a:spcAft>
                <a:spcPts val="400"/>
              </a:spcAft>
              <a:buSzPct val="100000"/>
              <a:buChar char="•"/>
            </a:pPr>
            <a:r>
              <a:rPr lang="en-US" sz="2000" dirty="0">
                <a:solidFill>
                  <a:srgbClr val="1A1A1A"/>
                </a:solidFill>
                <a:latin typeface="Times New Roman" pitchFamily="34" charset="0"/>
                <a:ea typeface="Times New Roman" pitchFamily="34" charset="-122"/>
                <a:cs typeface="Times New Roman" pitchFamily="34" charset="-120"/>
              </a:rPr>
              <a:t>More application integrations</a:t>
            </a:r>
            <a:endParaRPr lang="en-US" sz="2000" dirty="0"/>
          </a:p>
          <a:p>
            <a:pPr marL="342900" indent="-342900">
              <a:spcAft>
                <a:spcPts val="400"/>
              </a:spcAft>
              <a:buSzPct val="100000"/>
              <a:buChar char="•"/>
            </a:pPr>
            <a:r>
              <a:rPr lang="en-US" sz="2000" dirty="0">
                <a:solidFill>
                  <a:srgbClr val="1A1A1A"/>
                </a:solidFill>
                <a:latin typeface="Times New Roman" pitchFamily="34" charset="0"/>
                <a:ea typeface="Times New Roman" pitchFamily="34" charset="-122"/>
                <a:cs typeface="Times New Roman" pitchFamily="34" charset="-120"/>
              </a:rPr>
              <a:t>Smarter correlation and reporting</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4270248" y="975360"/>
            <a:ext cx="792480" cy="792480"/>
          </a:xfrm>
          <a:prstGeom prst="ellipse">
            <a:avLst/>
          </a:prstGeom>
          <a:solidFill>
            <a:srgbClr val="1F4E79">
              <a:alpha val="65000"/>
            </a:srgbClr>
          </a:solidFill>
          <a:ln w="12700">
            <a:solidFill>
              <a:srgbClr val="FFFFFF"/>
            </a:solidFill>
            <a:prstDash val="solid"/>
          </a:ln>
        </p:spPr>
      </p:sp>
      <p:sp>
        <p:nvSpPr>
          <p:cNvPr id="4" name="Shape 1"/>
          <p:cNvSpPr/>
          <p:nvPr/>
        </p:nvSpPr>
        <p:spPr>
          <a:xfrm>
            <a:off x="4605528" y="975360"/>
            <a:ext cx="792480" cy="792480"/>
          </a:xfrm>
          <a:prstGeom prst="ellipse">
            <a:avLst/>
          </a:prstGeom>
          <a:solidFill>
            <a:srgbClr val="0D9488">
              <a:alpha val="65000"/>
            </a:srgbClr>
          </a:solidFill>
          <a:ln w="12700">
            <a:solidFill>
              <a:srgbClr val="FFFFFF"/>
            </a:solidFill>
            <a:prstDash val="solid"/>
          </a:ln>
        </p:spPr>
      </p:sp>
      <p:sp>
        <p:nvSpPr>
          <p:cNvPr id="5" name="Shape 2"/>
          <p:cNvSpPr/>
          <p:nvPr/>
        </p:nvSpPr>
        <p:spPr>
          <a:xfrm>
            <a:off x="4940808" y="975360"/>
            <a:ext cx="792480" cy="792480"/>
          </a:xfrm>
          <a:prstGeom prst="ellipse">
            <a:avLst/>
          </a:prstGeom>
          <a:solidFill>
            <a:srgbClr val="2563EB">
              <a:alpha val="65000"/>
            </a:srgbClr>
          </a:solidFill>
          <a:ln w="12700">
            <a:solidFill>
              <a:srgbClr val="FFFFFF"/>
            </a:solidFill>
            <a:prstDash val="solid"/>
          </a:ln>
        </p:spPr>
      </p:sp>
      <p:sp>
        <p:nvSpPr>
          <p:cNvPr id="6" name="Text 3"/>
          <p:cNvSpPr txBox="1"/>
          <p:nvPr/>
        </p:nvSpPr>
        <p:spPr>
          <a:xfrm>
            <a:off x="5916168" y="914400"/>
            <a:ext cx="2438400" cy="685800"/>
          </a:xfrm>
          <a:prstGeom prst="rect">
            <a:avLst/>
          </a:prstGeom>
          <a:noFill/>
          <a:ln/>
        </p:spPr>
        <p:txBody>
          <a:bodyPr wrap="none" lIns="0" tIns="0" rIns="0" bIns="0" rtlCol="0" anchor="ctr"/>
          <a:lstStyle/>
          <a:p>
            <a:pPr marL="0" indent="0">
              <a:buNone/>
            </a:pPr>
            <a:r>
              <a:rPr lang="en-US" sz="2300" b="1" dirty="0">
                <a:solidFill>
                  <a:srgbClr val="1F4E79"/>
                </a:solidFill>
                <a:latin typeface="Arial" pitchFamily="34" charset="0"/>
                <a:ea typeface="Arial" pitchFamily="34" charset="-122"/>
                <a:cs typeface="Arial" pitchFamily="34" charset="-120"/>
              </a:rPr>
              <a:t>CONSENSUS</a:t>
            </a:r>
            <a:endParaRPr lang="en-US" sz="2300" dirty="0"/>
          </a:p>
        </p:txBody>
      </p:sp>
      <p:sp>
        <p:nvSpPr>
          <p:cNvPr id="7" name="Text 4"/>
          <p:cNvSpPr txBox="1"/>
          <p:nvPr/>
        </p:nvSpPr>
        <p:spPr>
          <a:xfrm>
            <a:off x="5916168" y="1584960"/>
            <a:ext cx="2133600" cy="335280"/>
          </a:xfrm>
          <a:prstGeom prst="rect">
            <a:avLst/>
          </a:prstGeom>
          <a:noFill/>
          <a:ln/>
        </p:spPr>
        <p:txBody>
          <a:bodyPr wrap="square" lIns="0" tIns="0" rIns="0" bIns="0" rtlCol="0" anchor="ctr"/>
          <a:lstStyle/>
          <a:p>
            <a:pPr marL="0" indent="0">
              <a:buNone/>
            </a:pPr>
            <a:r>
              <a:rPr lang="en-US" sz="1400" b="1" kern="0" spc="200" dirty="0">
                <a:solidFill>
                  <a:srgbClr val="0D9488"/>
                </a:solidFill>
                <a:latin typeface="Arial" pitchFamily="34" charset="0"/>
                <a:ea typeface="Arial" pitchFamily="34" charset="-122"/>
                <a:cs typeface="Arial" pitchFamily="34" charset="-120"/>
              </a:rPr>
              <a:t>TEAM KH001</a:t>
            </a:r>
            <a:endParaRPr lang="en-US" sz="1400" dirty="0"/>
          </a:p>
        </p:txBody>
      </p:sp>
      <p:sp>
        <p:nvSpPr>
          <p:cNvPr id="8" name="Text 5"/>
          <p:cNvSpPr txBox="1"/>
          <p:nvPr/>
        </p:nvSpPr>
        <p:spPr>
          <a:xfrm>
            <a:off x="502920" y="2286000"/>
            <a:ext cx="11183112" cy="914400"/>
          </a:xfrm>
          <a:prstGeom prst="rect">
            <a:avLst/>
          </a:prstGeom>
          <a:noFill/>
          <a:ln/>
        </p:spPr>
        <p:txBody>
          <a:bodyPr wrap="square" lIns="0" tIns="0" rIns="0" bIns="0" rtlCol="0" anchor="ctr"/>
          <a:lstStyle/>
          <a:p>
            <a:pPr marL="0" indent="0" algn="ctr">
              <a:buNone/>
            </a:pPr>
            <a:r>
              <a:rPr lang="en-US" sz="5200" b="1" kern="0" spc="300" dirty="0">
                <a:solidFill>
                  <a:srgbClr val="1F4E79"/>
                </a:solidFill>
                <a:latin typeface="Times New Roman" pitchFamily="34" charset="0"/>
                <a:ea typeface="Times New Roman" pitchFamily="34" charset="-122"/>
                <a:cs typeface="Times New Roman" pitchFamily="34" charset="-120"/>
              </a:rPr>
              <a:t>THANK YOU</a:t>
            </a:r>
            <a:endParaRPr lang="en-US" sz="5200" dirty="0"/>
          </a:p>
        </p:txBody>
      </p:sp>
      <p:sp>
        <p:nvSpPr>
          <p:cNvPr id="9" name="Shape 6"/>
          <p:cNvSpPr/>
          <p:nvPr/>
        </p:nvSpPr>
        <p:spPr>
          <a:xfrm>
            <a:off x="5184648" y="3246120"/>
            <a:ext cx="1828800" cy="45720"/>
          </a:xfrm>
          <a:prstGeom prst="rect">
            <a:avLst/>
          </a:prstGeom>
          <a:solidFill>
            <a:srgbClr val="1F4E79"/>
          </a:solidFill>
          <a:ln w="12700">
            <a:solidFill>
              <a:srgbClr val="1F4E79"/>
            </a:solidFill>
            <a:prstDash val="solid"/>
          </a:ln>
        </p:spPr>
      </p:sp>
      <p:sp>
        <p:nvSpPr>
          <p:cNvPr id="10" name="Text 7"/>
          <p:cNvSpPr txBox="1"/>
          <p:nvPr/>
        </p:nvSpPr>
        <p:spPr>
          <a:xfrm>
            <a:off x="502920" y="3474720"/>
            <a:ext cx="11183112" cy="457200"/>
          </a:xfrm>
          <a:prstGeom prst="rect">
            <a:avLst/>
          </a:prstGeom>
          <a:noFill/>
          <a:ln/>
        </p:spPr>
        <p:txBody>
          <a:bodyPr wrap="square" lIns="0" tIns="0" rIns="0" bIns="0" rtlCol="0" anchor="t"/>
          <a:lstStyle/>
          <a:p>
            <a:pPr marL="0" indent="0" algn="ctr">
              <a:buNone/>
            </a:pPr>
            <a:r>
              <a:rPr lang="en-US" sz="2200" i="1" dirty="0">
                <a:solidFill>
                  <a:srgbClr val="475569"/>
                </a:solidFill>
                <a:latin typeface="Times New Roman" pitchFamily="34" charset="0"/>
                <a:ea typeface="Times New Roman" pitchFamily="34" charset="-122"/>
                <a:cs typeface="Times New Roman" pitchFamily="34" charset="-120"/>
              </a:rPr>
              <a:t>Turning Application Logs into Actionable Security Insights</a:t>
            </a:r>
            <a:endParaRPr lang="en-US" sz="2200" dirty="0"/>
          </a:p>
        </p:txBody>
      </p:sp>
      <p:sp>
        <p:nvSpPr>
          <p:cNvPr id="11" name="Text 8"/>
          <p:cNvSpPr txBox="1"/>
          <p:nvPr/>
        </p:nvSpPr>
        <p:spPr>
          <a:xfrm>
            <a:off x="502920" y="4343400"/>
            <a:ext cx="11183112" cy="457200"/>
          </a:xfrm>
          <a:prstGeom prst="rect">
            <a:avLst/>
          </a:prstGeom>
          <a:noFill/>
          <a:ln/>
        </p:spPr>
        <p:txBody>
          <a:bodyPr wrap="square" lIns="0" tIns="0" rIns="0" bIns="0" rtlCol="0" anchor="t"/>
          <a:lstStyle/>
          <a:p>
            <a:pPr marL="0" indent="0" algn="ctr">
              <a:buNone/>
            </a:pPr>
            <a:r>
              <a:rPr lang="en-US" sz="2200" b="1" dirty="0">
                <a:solidFill>
                  <a:srgbClr val="1F4E79"/>
                </a:solidFill>
                <a:latin typeface="Times New Roman" pitchFamily="34" charset="0"/>
                <a:ea typeface="Times New Roman" pitchFamily="34" charset="-122"/>
                <a:cs typeface="Times New Roman" pitchFamily="34" charset="-120"/>
              </a:rPr>
              <a:t>KRIYOVA HACKATHON 2026</a:t>
            </a:r>
            <a:endParaRPr lang="en-US" sz="2200" dirty="0"/>
          </a:p>
        </p:txBody>
      </p:sp>
      <p:sp>
        <p:nvSpPr>
          <p:cNvPr id="12" name="Text 9"/>
          <p:cNvSpPr txBox="1"/>
          <p:nvPr/>
        </p:nvSpPr>
        <p:spPr>
          <a:xfrm>
            <a:off x="502920" y="4846320"/>
            <a:ext cx="11183112" cy="411480"/>
          </a:xfrm>
          <a:prstGeom prst="rect">
            <a:avLst/>
          </a:prstGeom>
          <a:noFill/>
          <a:ln/>
        </p:spPr>
        <p:txBody>
          <a:bodyPr wrap="square" lIns="0" tIns="0" rIns="0" bIns="0" rtlCol="0" anchor="t"/>
          <a:lstStyle/>
          <a:p>
            <a:pPr marL="0" indent="0" algn="ctr">
              <a:buNone/>
            </a:pPr>
            <a:r>
              <a:rPr lang="en-US" sz="1800" dirty="0">
                <a:solidFill>
                  <a:srgbClr val="1A1A1A"/>
                </a:solidFill>
                <a:latin typeface="Times New Roman" pitchFamily="34" charset="0"/>
                <a:ea typeface="Times New Roman" pitchFamily="34" charset="-122"/>
                <a:cs typeface="Times New Roman" pitchFamily="34" charset="-120"/>
              </a:rPr>
              <a:t>Team CONSENSUS  |  Team ID: KH001  |  Theme: Cyber Security</a:t>
            </a:r>
            <a:endParaRPr lang="en-US" sz="1800" dirty="0"/>
          </a:p>
        </p:txBody>
      </p:sp>
      <p:sp>
        <p:nvSpPr>
          <p:cNvPr id="13" name="Text 10"/>
          <p:cNvSpPr txBox="1"/>
          <p:nvPr/>
        </p:nvSpPr>
        <p:spPr>
          <a:xfrm>
            <a:off x="502920" y="5349240"/>
            <a:ext cx="11183112" cy="411480"/>
          </a:xfrm>
          <a:prstGeom prst="rect">
            <a:avLst/>
          </a:prstGeom>
          <a:noFill/>
          <a:ln/>
        </p:spPr>
        <p:txBody>
          <a:bodyPr wrap="square" lIns="0" tIns="0" rIns="0" bIns="0" rtlCol="0" anchor="t"/>
          <a:lstStyle/>
          <a:p>
            <a:pPr marL="0" indent="0" algn="ctr">
              <a:buNone/>
            </a:pPr>
            <a:r>
              <a:rPr lang="en-US" sz="1600" dirty="0">
                <a:solidFill>
                  <a:srgbClr val="475569"/>
                </a:solidFill>
                <a:latin typeface="Times New Roman" pitchFamily="34" charset="0"/>
                <a:ea typeface="Times New Roman" pitchFamily="34" charset="-122"/>
                <a:cs typeface="Times New Roman" pitchFamily="34" charset="-120"/>
              </a:rPr>
              <a:t>A.V. Karthikeya   •   D. Naga Santhosh   •   K. Balagangadhar</a:t>
            </a:r>
            <a:endParaRPr lang="en-US" sz="1600" dirty="0"/>
          </a:p>
        </p:txBody>
      </p:sp>
      <p:sp>
        <p:nvSpPr>
          <p:cNvPr id="14" name="Text 11"/>
          <p:cNvSpPr txBox="1"/>
          <p:nvPr/>
        </p:nvSpPr>
        <p:spPr>
          <a:xfrm>
            <a:off x="502920" y="5852160"/>
            <a:ext cx="11183112" cy="365760"/>
          </a:xfrm>
          <a:prstGeom prst="rect">
            <a:avLst/>
          </a:prstGeom>
          <a:noFill/>
          <a:ln/>
        </p:spPr>
        <p:txBody>
          <a:bodyPr wrap="square" lIns="0" tIns="0" rIns="0" bIns="0" rtlCol="0" anchor="t"/>
          <a:lstStyle/>
          <a:p>
            <a:pPr marL="0" indent="0" algn="ctr">
              <a:buNone/>
            </a:pP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TotalTime>
  <Words>985</Words>
  <Application>Microsoft Office PowerPoint</Application>
  <PresentationFormat>Widescreen</PresentationFormat>
  <Paragraphs>131</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WebSentinel - Kriyova Hackathon 2026</dc:title>
  <dc:subject>PptxGenJS Presentation</dc:subject>
  <dc:creator>CONSENSUS</dc:creator>
  <cp:lastModifiedBy>Santhosh Dupam</cp:lastModifiedBy>
  <cp:revision>1</cp:revision>
  <dcterms:created xsi:type="dcterms:W3CDTF">2026-10-10T05:03:46Z</dcterms:created>
  <dcterms:modified xsi:type="dcterms:W3CDTF">2026-10-10T05:21:08Z</dcterms:modified>
</cp:coreProperties>
</file>